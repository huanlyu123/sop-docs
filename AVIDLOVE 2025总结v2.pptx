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98" r:id="rId3"/>
  </p:sldIdLst>
  <p:sldSz cx="18288000" cy="10287000"/>
  <p:notesSz cx="6858000" cy="9144000"/>
  <p:embeddedFontLst>
    <p:embeddedFont>
      <p:font typeface="微软雅黑" panose="020B0503020204020204" charset="-122"/>
      <p:regular r:id="rId9"/>
    </p:embeddedFont>
    <p:embeddedFont>
      <p:font typeface="Arimo" panose="020B0604020202020204"/>
      <p:regular r:id="rId10"/>
    </p:embeddedFont>
    <p:embeddedFont>
      <p:font typeface="Calibri" panose="020F0502020204030204" charset="0"/>
      <p:regular r:id="rId11"/>
      <p:bold r:id="rId12"/>
      <p:italic r:id="rId13"/>
      <p:boldItalic r:id="rId14"/>
    </p:embeddedFont>
  </p:embeddedFontLst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13" userDrawn="1">
          <p15:clr>
            <a:srgbClr val="A4A3A4"/>
          </p15:clr>
        </p15:guide>
        <p15:guide id="2" pos="29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6C0A"/>
    <a:srgbClr val="D907C0"/>
    <a:srgbClr val="FAC090"/>
    <a:srgbClr val="FCEDF9"/>
    <a:srgbClr val="EFA8E2"/>
    <a:srgbClr val="E451D3"/>
    <a:srgbClr val="E8EBF0"/>
    <a:srgbClr val="DC7112"/>
    <a:srgbClr val="EE7228"/>
    <a:srgbClr val="FBF7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013"/>
        <p:guide pos="299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1.fntdata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2.xml"/><Relationship Id="rId14" Type="http://schemas.openxmlformats.org/officeDocument/2006/relationships/font" Target="fonts/font6.fntdata"/><Relationship Id="rId13" Type="http://schemas.openxmlformats.org/officeDocument/2006/relationships/font" Target="fonts/font5.fntdata"/><Relationship Id="rId12" Type="http://schemas.openxmlformats.org/officeDocument/2006/relationships/font" Target="fonts/font4.fntdata"/><Relationship Id="rId11" Type="http://schemas.openxmlformats.org/officeDocument/2006/relationships/font" Target="fonts/font3.fntdata"/><Relationship Id="rId10" Type="http://schemas.openxmlformats.org/officeDocument/2006/relationships/font" Target="fonts/font2.fntdata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E:\2025\12&#26376;\2025&#21697;&#29260;SOV2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92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sz="1920"/>
              <a:t>品牌提及SOV变化趋势</a:t>
            </a:r>
            <a:endParaRPr sz="192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[2025品牌SOV2.xlsx]AVIDLOVE!$H$44</c:f>
              <c:strCache>
                <c:ptCount val="1"/>
                <c:pt idx="0">
                  <c:v>AVIDLOVE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[2025品牌SOV2.xlsx]AVIDLOVE!$I$43:$T$43</c:f>
              <c:numCache>
                <c:formatCode>yyyy"年"m"月";@</c:formatCode>
                <c:ptCount val="12"/>
                <c:pt idx="0" c:formatCode="yyyy&quot;年&quot;m&quot;月&quot;;@">
                  <c:v>45658</c:v>
                </c:pt>
                <c:pt idx="1" c:formatCode="yyyy&quot;年&quot;m&quot;月&quot;;@">
                  <c:v>45689</c:v>
                </c:pt>
                <c:pt idx="2" c:formatCode="yyyy&quot;年&quot;m&quot;月&quot;;@">
                  <c:v>45717</c:v>
                </c:pt>
                <c:pt idx="3" c:formatCode="yyyy&quot;年&quot;m&quot;月&quot;;@">
                  <c:v>45748</c:v>
                </c:pt>
                <c:pt idx="4" c:formatCode="yyyy&quot;年&quot;m&quot;月&quot;;@">
                  <c:v>45778</c:v>
                </c:pt>
                <c:pt idx="5" c:formatCode="yyyy&quot;年&quot;m&quot;月&quot;;@">
                  <c:v>45809</c:v>
                </c:pt>
                <c:pt idx="6" c:formatCode="yyyy&quot;年&quot;m&quot;月&quot;;@">
                  <c:v>45839</c:v>
                </c:pt>
                <c:pt idx="7" c:formatCode="yyyy&quot;年&quot;m&quot;月&quot;;@">
                  <c:v>45870</c:v>
                </c:pt>
                <c:pt idx="8" c:formatCode="yyyy&quot;年&quot;m&quot;月&quot;;@">
                  <c:v>45901</c:v>
                </c:pt>
                <c:pt idx="9" c:formatCode="yyyy&quot;年&quot;m&quot;月&quot;;@">
                  <c:v>45931</c:v>
                </c:pt>
                <c:pt idx="10" c:formatCode="yyyy&quot;年&quot;m&quot;月&quot;;@">
                  <c:v>45962</c:v>
                </c:pt>
                <c:pt idx="11" c:formatCode="yyyy&quot;年&quot;m&quot;月&quot;;@">
                  <c:v>45992</c:v>
                </c:pt>
              </c:numCache>
            </c:numRef>
          </c:cat>
          <c:val>
            <c:numRef>
              <c:f>[2025品牌SOV2.xlsx]AVIDLOVE!$I$44:$T$44</c:f>
              <c:numCache>
                <c:formatCode>0%</c:formatCode>
                <c:ptCount val="12"/>
                <c:pt idx="0">
                  <c:v>0.384256926952141</c:v>
                </c:pt>
                <c:pt idx="1">
                  <c:v>0.485462933161678</c:v>
                </c:pt>
                <c:pt idx="2">
                  <c:v>0.516616816218013</c:v>
                </c:pt>
                <c:pt idx="3">
                  <c:v>0.564634490544736</c:v>
                </c:pt>
                <c:pt idx="4">
                  <c:v>0.547258240899859</c:v>
                </c:pt>
                <c:pt idx="5">
                  <c:v>0.625570776255708</c:v>
                </c:pt>
                <c:pt idx="6">
                  <c:v>0.648975188781014</c:v>
                </c:pt>
                <c:pt idx="7">
                  <c:v>0.619571579070584</c:v>
                </c:pt>
                <c:pt idx="8">
                  <c:v>0.503375934410417</c:v>
                </c:pt>
                <c:pt idx="9">
                  <c:v>0.575586642599278</c:v>
                </c:pt>
                <c:pt idx="10">
                  <c:v>0.59232885580191</c:v>
                </c:pt>
                <c:pt idx="11">
                  <c:v>0.530847528043207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[2025品牌SOV2.xlsx]AVIDLOVE!$H$45</c:f>
              <c:strCache>
                <c:ptCount val="1"/>
                <c:pt idx="0">
                  <c:v>Rslove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[2025品牌SOV2.xlsx]AVIDLOVE!$I$43:$T$43</c:f>
              <c:numCache>
                <c:formatCode>yyyy"年"m"月";@</c:formatCode>
                <c:ptCount val="12"/>
                <c:pt idx="0" c:formatCode="yyyy&quot;年&quot;m&quot;月&quot;;@">
                  <c:v>45658</c:v>
                </c:pt>
                <c:pt idx="1" c:formatCode="yyyy&quot;年&quot;m&quot;月&quot;;@">
                  <c:v>45689</c:v>
                </c:pt>
                <c:pt idx="2" c:formatCode="yyyy&quot;年&quot;m&quot;月&quot;;@">
                  <c:v>45717</c:v>
                </c:pt>
                <c:pt idx="3" c:formatCode="yyyy&quot;年&quot;m&quot;月&quot;;@">
                  <c:v>45748</c:v>
                </c:pt>
                <c:pt idx="4" c:formatCode="yyyy&quot;年&quot;m&quot;月&quot;;@">
                  <c:v>45778</c:v>
                </c:pt>
                <c:pt idx="5" c:formatCode="yyyy&quot;年&quot;m&quot;月&quot;;@">
                  <c:v>45809</c:v>
                </c:pt>
                <c:pt idx="6" c:formatCode="yyyy&quot;年&quot;m&quot;月&quot;;@">
                  <c:v>45839</c:v>
                </c:pt>
                <c:pt idx="7" c:formatCode="yyyy&quot;年&quot;m&quot;月&quot;;@">
                  <c:v>45870</c:v>
                </c:pt>
                <c:pt idx="8" c:formatCode="yyyy&quot;年&quot;m&quot;月&quot;;@">
                  <c:v>45901</c:v>
                </c:pt>
                <c:pt idx="9" c:formatCode="yyyy&quot;年&quot;m&quot;月&quot;;@">
                  <c:v>45931</c:v>
                </c:pt>
                <c:pt idx="10" c:formatCode="yyyy&quot;年&quot;m&quot;月&quot;;@">
                  <c:v>45962</c:v>
                </c:pt>
                <c:pt idx="11" c:formatCode="yyyy&quot;年&quot;m&quot;月&quot;;@">
                  <c:v>45992</c:v>
                </c:pt>
              </c:numCache>
            </c:numRef>
          </c:cat>
          <c:val>
            <c:numRef>
              <c:f>[2025品牌SOV2.xlsx]AVIDLOVE!$I$45:$T$45</c:f>
              <c:numCache>
                <c:formatCode>0%</c:formatCode>
                <c:ptCount val="12"/>
                <c:pt idx="0">
                  <c:v>0.259068010075567</c:v>
                </c:pt>
                <c:pt idx="1">
                  <c:v>0.254371848514108</c:v>
                </c:pt>
                <c:pt idx="2">
                  <c:v>0.158856763044201</c:v>
                </c:pt>
                <c:pt idx="3">
                  <c:v>0.222551510019757</c:v>
                </c:pt>
                <c:pt idx="4">
                  <c:v>0.197781596625527</c:v>
                </c:pt>
                <c:pt idx="5">
                  <c:v>0.128852739726027</c:v>
                </c:pt>
                <c:pt idx="6">
                  <c:v>0.126537216828479</c:v>
                </c:pt>
                <c:pt idx="7">
                  <c:v>0.0571227905887861</c:v>
                </c:pt>
                <c:pt idx="8">
                  <c:v>0.237762237762238</c:v>
                </c:pt>
                <c:pt idx="9">
                  <c:v>0.157152527075812</c:v>
                </c:pt>
                <c:pt idx="10">
                  <c:v>0.222770674866483</c:v>
                </c:pt>
                <c:pt idx="11">
                  <c:v>0.192147901952638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[2025品牌SOV2.xlsx]AVIDLOVE!$H$46</c:f>
              <c:strCache>
                <c:ptCount val="1"/>
                <c:pt idx="0">
                  <c:v>Lilosy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[2025品牌SOV2.xlsx]AVIDLOVE!$I$43:$T$43</c:f>
              <c:numCache>
                <c:formatCode>yyyy"年"m"月";@</c:formatCode>
                <c:ptCount val="12"/>
                <c:pt idx="0" c:formatCode="yyyy&quot;年&quot;m&quot;月&quot;;@">
                  <c:v>45658</c:v>
                </c:pt>
                <c:pt idx="1" c:formatCode="yyyy&quot;年&quot;m&quot;月&quot;;@">
                  <c:v>45689</c:v>
                </c:pt>
                <c:pt idx="2" c:formatCode="yyyy&quot;年&quot;m&quot;月&quot;;@">
                  <c:v>45717</c:v>
                </c:pt>
                <c:pt idx="3" c:formatCode="yyyy&quot;年&quot;m&quot;月&quot;;@">
                  <c:v>45748</c:v>
                </c:pt>
                <c:pt idx="4" c:formatCode="yyyy&quot;年&quot;m&quot;月&quot;;@">
                  <c:v>45778</c:v>
                </c:pt>
                <c:pt idx="5" c:formatCode="yyyy&quot;年&quot;m&quot;月&quot;;@">
                  <c:v>45809</c:v>
                </c:pt>
                <c:pt idx="6" c:formatCode="yyyy&quot;年&quot;m&quot;月&quot;;@">
                  <c:v>45839</c:v>
                </c:pt>
                <c:pt idx="7" c:formatCode="yyyy&quot;年&quot;m&quot;月&quot;;@">
                  <c:v>45870</c:v>
                </c:pt>
                <c:pt idx="8" c:formatCode="yyyy&quot;年&quot;m&quot;月&quot;;@">
                  <c:v>45901</c:v>
                </c:pt>
                <c:pt idx="9" c:formatCode="yyyy&quot;年&quot;m&quot;月&quot;;@">
                  <c:v>45931</c:v>
                </c:pt>
                <c:pt idx="10" c:formatCode="yyyy&quot;年&quot;m&quot;月&quot;;@">
                  <c:v>45962</c:v>
                </c:pt>
                <c:pt idx="11" c:formatCode="yyyy&quot;年&quot;m&quot;月&quot;;@">
                  <c:v>45992</c:v>
                </c:pt>
              </c:numCache>
            </c:numRef>
          </c:cat>
          <c:val>
            <c:numRef>
              <c:f>[2025品牌SOV2.xlsx]AVIDLOVE!$I$46:$T$46</c:f>
              <c:numCache>
                <c:formatCode>0%</c:formatCode>
                <c:ptCount val="12"/>
                <c:pt idx="0">
                  <c:v>0.0100755667506297</c:v>
                </c:pt>
                <c:pt idx="1">
                  <c:v>0.0241390408754425</c:v>
                </c:pt>
                <c:pt idx="2">
                  <c:v>0.0282485875706215</c:v>
                </c:pt>
                <c:pt idx="3">
                  <c:v>0.025966694891335</c:v>
                </c:pt>
                <c:pt idx="4">
                  <c:v>0.0267145758475238</c:v>
                </c:pt>
                <c:pt idx="5">
                  <c:v>0.0184075342465753</c:v>
                </c:pt>
                <c:pt idx="6">
                  <c:v>0.0290183387270766</c:v>
                </c:pt>
                <c:pt idx="7">
                  <c:v>0.0175582348121269</c:v>
                </c:pt>
                <c:pt idx="8">
                  <c:v>0.0153122739329636</c:v>
                </c:pt>
                <c:pt idx="9">
                  <c:v>0.0409521660649819</c:v>
                </c:pt>
                <c:pt idx="10">
                  <c:v>0.043858229486972</c:v>
                </c:pt>
                <c:pt idx="11">
                  <c:v>0.0198379725799751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[2025品牌SOV2.xlsx]AVIDLOVE!$H$47</c:f>
              <c:strCache>
                <c:ptCount val="1"/>
                <c:pt idx="0">
                  <c:v>Yandy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[2025品牌SOV2.xlsx]AVIDLOVE!$I$43:$T$43</c:f>
              <c:numCache>
                <c:formatCode>yyyy"年"m"月";@</c:formatCode>
                <c:ptCount val="12"/>
                <c:pt idx="0" c:formatCode="yyyy&quot;年&quot;m&quot;月&quot;;@">
                  <c:v>45658</c:v>
                </c:pt>
                <c:pt idx="1" c:formatCode="yyyy&quot;年&quot;m&quot;月&quot;;@">
                  <c:v>45689</c:v>
                </c:pt>
                <c:pt idx="2" c:formatCode="yyyy&quot;年&quot;m&quot;月&quot;;@">
                  <c:v>45717</c:v>
                </c:pt>
                <c:pt idx="3" c:formatCode="yyyy&quot;年&quot;m&quot;月&quot;;@">
                  <c:v>45748</c:v>
                </c:pt>
                <c:pt idx="4" c:formatCode="yyyy&quot;年&quot;m&quot;月&quot;;@">
                  <c:v>45778</c:v>
                </c:pt>
                <c:pt idx="5" c:formatCode="yyyy&quot;年&quot;m&quot;月&quot;;@">
                  <c:v>45809</c:v>
                </c:pt>
                <c:pt idx="6" c:formatCode="yyyy&quot;年&quot;m&quot;月&quot;;@">
                  <c:v>45839</c:v>
                </c:pt>
                <c:pt idx="7" c:formatCode="yyyy&quot;年&quot;m&quot;月&quot;;@">
                  <c:v>45870</c:v>
                </c:pt>
                <c:pt idx="8" c:formatCode="yyyy&quot;年&quot;m&quot;月&quot;;@">
                  <c:v>45901</c:v>
                </c:pt>
                <c:pt idx="9" c:formatCode="yyyy&quot;年&quot;m&quot;月&quot;;@">
                  <c:v>45931</c:v>
                </c:pt>
                <c:pt idx="10" c:formatCode="yyyy&quot;年&quot;m&quot;月&quot;;@">
                  <c:v>45962</c:v>
                </c:pt>
                <c:pt idx="11" c:formatCode="yyyy&quot;年&quot;m&quot;月&quot;;@">
                  <c:v>45992</c:v>
                </c:pt>
              </c:numCache>
            </c:numRef>
          </c:cat>
          <c:val>
            <c:numRef>
              <c:f>[2025品牌SOV2.xlsx]AVIDLOVE!$I$47:$T$47</c:f>
              <c:numCache>
                <c:formatCode>0%</c:formatCode>
                <c:ptCount val="12"/>
                <c:pt idx="0">
                  <c:v>0.0643576826196474</c:v>
                </c:pt>
                <c:pt idx="1">
                  <c:v>0.0922647784572471</c:v>
                </c:pt>
                <c:pt idx="2">
                  <c:v>0.199235626453971</c:v>
                </c:pt>
                <c:pt idx="3">
                  <c:v>0.116426756985605</c:v>
                </c:pt>
                <c:pt idx="4">
                  <c:v>0.143727542571473</c:v>
                </c:pt>
                <c:pt idx="5">
                  <c:v>0.181792237442922</c:v>
                </c:pt>
                <c:pt idx="6">
                  <c:v>0.144444444444444</c:v>
                </c:pt>
                <c:pt idx="7">
                  <c:v>0.258574271333255</c:v>
                </c:pt>
                <c:pt idx="8">
                  <c:v>0.1825415963347</c:v>
                </c:pt>
                <c:pt idx="9">
                  <c:v>0.192012635379061</c:v>
                </c:pt>
                <c:pt idx="10">
                  <c:v>0.114500728273183</c:v>
                </c:pt>
                <c:pt idx="11">
                  <c:v>0.221749065226423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[2025品牌SOV2.xlsx]AVIDLOVE!$H$48</c:f>
              <c:strCache>
                <c:ptCount val="1"/>
                <c:pt idx="0">
                  <c:v>Adoreme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[2025品牌SOV2.xlsx]AVIDLOVE!$I$43:$T$43</c:f>
              <c:numCache>
                <c:formatCode>yyyy"年"m"月";@</c:formatCode>
                <c:ptCount val="12"/>
                <c:pt idx="0" c:formatCode="yyyy&quot;年&quot;m&quot;月&quot;;@">
                  <c:v>45658</c:v>
                </c:pt>
                <c:pt idx="1" c:formatCode="yyyy&quot;年&quot;m&quot;月&quot;;@">
                  <c:v>45689</c:v>
                </c:pt>
                <c:pt idx="2" c:formatCode="yyyy&quot;年&quot;m&quot;月&quot;;@">
                  <c:v>45717</c:v>
                </c:pt>
                <c:pt idx="3" c:formatCode="yyyy&quot;年&quot;m&quot;月&quot;;@">
                  <c:v>45748</c:v>
                </c:pt>
                <c:pt idx="4" c:formatCode="yyyy&quot;年&quot;m&quot;月&quot;;@">
                  <c:v>45778</c:v>
                </c:pt>
                <c:pt idx="5" c:formatCode="yyyy&quot;年&quot;m&quot;月&quot;;@">
                  <c:v>45809</c:v>
                </c:pt>
                <c:pt idx="6" c:formatCode="yyyy&quot;年&quot;m&quot;月&quot;;@">
                  <c:v>45839</c:v>
                </c:pt>
                <c:pt idx="7" c:formatCode="yyyy&quot;年&quot;m&quot;月&quot;;@">
                  <c:v>45870</c:v>
                </c:pt>
                <c:pt idx="8" c:formatCode="yyyy&quot;年&quot;m&quot;月&quot;;@">
                  <c:v>45901</c:v>
                </c:pt>
                <c:pt idx="9" c:formatCode="yyyy&quot;年&quot;m&quot;月&quot;;@">
                  <c:v>45931</c:v>
                </c:pt>
                <c:pt idx="10" c:formatCode="yyyy&quot;年&quot;m&quot;月&quot;;@">
                  <c:v>45962</c:v>
                </c:pt>
                <c:pt idx="11" c:formatCode="yyyy&quot;年&quot;m&quot;月&quot;;@">
                  <c:v>45992</c:v>
                </c:pt>
              </c:numCache>
            </c:numRef>
          </c:cat>
          <c:val>
            <c:numRef>
              <c:f>[2025品牌SOV2.xlsx]AVIDLOVE!$I$48:$T$48</c:f>
              <c:numCache>
                <c:formatCode>0%</c:formatCode>
                <c:ptCount val="12"/>
                <c:pt idx="0">
                  <c:v>0.282241813602015</c:v>
                </c:pt>
                <c:pt idx="1">
                  <c:v>0.143761398991525</c:v>
                </c:pt>
                <c:pt idx="2">
                  <c:v>0.0970422067131937</c:v>
                </c:pt>
                <c:pt idx="3">
                  <c:v>0.0704205475585662</c:v>
                </c:pt>
                <c:pt idx="4">
                  <c:v>0.0845180440556163</c:v>
                </c:pt>
                <c:pt idx="5">
                  <c:v>0.0453767123287671</c:v>
                </c:pt>
                <c:pt idx="6">
                  <c:v>0.051024811218986</c:v>
                </c:pt>
                <c:pt idx="7">
                  <c:v>0.0471731241952476</c:v>
                </c:pt>
                <c:pt idx="8">
                  <c:v>0.0610079575596817</c:v>
                </c:pt>
                <c:pt idx="9">
                  <c:v>0.0342960288808664</c:v>
                </c:pt>
                <c:pt idx="10">
                  <c:v>0.0265415115714517</c:v>
                </c:pt>
                <c:pt idx="11">
                  <c:v>0.0354175321977565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676148822"/>
        <c:axId val="875156533"/>
      </c:lineChart>
      <c:dateAx>
        <c:axId val="676148822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75156533"/>
        <c:crosses val="autoZero"/>
        <c:auto val="1"/>
        <c:lblOffset val="100"/>
        <c:baseTimeUnit val="months"/>
      </c:dateAx>
      <c:valAx>
        <c:axId val="875156533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7614882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1dc25ad-c7a4-4e26-b510-13f0bb10c259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 sz="1600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2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TextBox 36"/>
          <p:cNvSpPr txBox="1"/>
          <p:nvPr/>
        </p:nvSpPr>
        <p:spPr>
          <a:xfrm>
            <a:off x="912020" y="152400"/>
            <a:ext cx="10611347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-超粗体" panose="020B0A00000000000000" charset="-122"/>
              </a:rPr>
              <a:t>SOV</a:t>
            </a:r>
            <a:endParaRPr lang="en-US" sz="4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-超粗体" panose="020B0A00000000000000" charset="-122"/>
            </a:endParaRPr>
          </a:p>
        </p:txBody>
      </p:sp>
      <p:sp>
        <p:nvSpPr>
          <p:cNvPr id="29" name="Freeform 42"/>
          <p:cNvSpPr/>
          <p:nvPr>
            <p:custDataLst>
              <p:tags r:id="rId2"/>
            </p:custDataLst>
          </p:nvPr>
        </p:nvSpPr>
        <p:spPr>
          <a:xfrm>
            <a:off x="911860" y="1028700"/>
            <a:ext cx="16205200" cy="2773045"/>
          </a:xfrm>
          <a:custGeom>
            <a:avLst/>
            <a:gdLst/>
            <a:ahLst/>
            <a:cxnLst/>
            <a:rect l="l" t="t" r="r" b="b"/>
            <a:pathLst>
              <a:path w="7112000" h="8726170">
                <a:moveTo>
                  <a:pt x="0" y="0"/>
                </a:moveTo>
                <a:lnTo>
                  <a:pt x="7112000" y="0"/>
                </a:lnTo>
                <a:lnTo>
                  <a:pt x="7112000" y="8726170"/>
                </a:lnTo>
                <a:lnTo>
                  <a:pt x="0" y="8726170"/>
                </a:lnTo>
                <a:close/>
              </a:path>
            </a:pathLst>
          </a:custGeom>
          <a:solidFill>
            <a:srgbClr val="EFA8E2">
              <a:alpha val="59000"/>
            </a:srgbClr>
          </a:solidFill>
        </p:spPr>
      </p:sp>
      <p:sp>
        <p:nvSpPr>
          <p:cNvPr id="21" name="文本框 20"/>
          <p:cNvSpPr txBox="1"/>
          <p:nvPr/>
        </p:nvSpPr>
        <p:spPr>
          <a:xfrm>
            <a:off x="1066800" y="1283970"/>
            <a:ext cx="15663545" cy="23831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1" algn="l">
              <a:lnSpc>
                <a:spcPts val="3275"/>
              </a:lnSpc>
              <a:buClrTx/>
              <a:buSzTx/>
              <a:buFontTx/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mo" panose="020B0604020202020204"/>
              </a:rPr>
              <a:t>1. Avidlove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mo" panose="020B0604020202020204"/>
              </a:rPr>
              <a:t>全年品牌提及变化呈现缓慢上升趋势，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mo" panose="020B0604020202020204"/>
              </a:rPr>
              <a:t>1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mo" panose="020B0604020202020204"/>
              </a:rPr>
              <a:t>月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mo" panose="020B0604020202020204"/>
              </a:rPr>
              <a:t>38%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mo" panose="020B0604020202020204"/>
              </a:rPr>
              <a:t>，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mo" panose="020B0604020202020204"/>
              </a:rPr>
              <a:t>11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mo" panose="020B0604020202020204"/>
              </a:rPr>
              <a:t>月达到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mo" panose="020B0604020202020204"/>
              </a:rPr>
              <a:t>60%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mo" panose="020B0604020202020204"/>
              </a:rPr>
              <a:t>。</a:t>
            </a:r>
            <a:endParaRPr lang="zh-CN" altLang="en-US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mo" panose="020B0604020202020204"/>
            </a:endParaRPr>
          </a:p>
          <a:p>
            <a:pPr marL="0" lvl="1" algn="l">
              <a:lnSpc>
                <a:spcPts val="3275"/>
              </a:lnSpc>
              <a:buClrTx/>
              <a:buSzTx/>
              <a:buFontTx/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mo" panose="020B0604020202020204"/>
              </a:rPr>
              <a:t>2. 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mo" panose="020B0604020202020204"/>
              </a:rPr>
              <a:t>在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mo" panose="020B0604020202020204"/>
              </a:rPr>
              <a:t>6-8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mo" panose="020B0604020202020204"/>
              </a:rPr>
              <a:t>月呈现波峰，期间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mo" panose="020B0604020202020204"/>
              </a:rPr>
              <a:t>AVIDLOVE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mo" panose="020B0604020202020204"/>
              </a:rPr>
              <a:t>开展了婚礼季、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mo" panose="020B0604020202020204"/>
              </a:rPr>
              <a:t>primeday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mo" panose="020B0604020202020204"/>
              </a:rPr>
              <a:t>、和店庆活动。</a:t>
            </a:r>
            <a:endParaRPr lang="en-US" altLang="zh-CN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mo" panose="020B0604020202020204"/>
            </a:endParaRPr>
          </a:p>
          <a:p>
            <a:pPr marL="0" lvl="1" algn="l">
              <a:lnSpc>
                <a:spcPts val="3275"/>
              </a:lnSpc>
              <a:buClrTx/>
              <a:buSzTx/>
              <a:buFontTx/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mo" panose="020B0604020202020204"/>
              </a:rPr>
              <a:t>3. 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mo" panose="020B0604020202020204"/>
              </a:rPr>
              <a:t>在竞品中，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mo" panose="020B0604020202020204"/>
              </a:rPr>
              <a:t>AVIDLOVE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mo" panose="020B0604020202020204"/>
              </a:rPr>
              <a:t>排名第一。</a:t>
            </a:r>
            <a:endParaRPr lang="zh-CN" altLang="en-US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mo" panose="020B0604020202020204"/>
            </a:endParaRPr>
          </a:p>
        </p:txBody>
      </p:sp>
      <p:graphicFrame>
        <p:nvGraphicFramePr>
          <p:cNvPr id="3" name="图表 2"/>
          <p:cNvGraphicFramePr/>
          <p:nvPr/>
        </p:nvGraphicFramePr>
        <p:xfrm>
          <a:off x="990600" y="3801745"/>
          <a:ext cx="16135985" cy="64154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86.7,&quot;left&quot;:180,&quot;top&quot;:116.15,&quot;width&quot;:999.5}"/>
</p:tagLst>
</file>

<file path=ppt/tags/tag2.xml><?xml version="1.0" encoding="utf-8"?>
<p:tagLst xmlns:p="http://schemas.openxmlformats.org/presentationml/2006/main">
  <p:tag name="resource_record_key" val="{&quot;8&quot;:[4625844,20476773,20476292,20015815,50053419,20468653,50053429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907C0">
            <a:alpha val="50000"/>
          </a:srgbClr>
        </a:solidFill>
      </a:spPr>
      <a:bodyPr/>
      <a:lstStyle>
        <a:defPPr>
          <a:defRPr lang="zh-CN" altLang="en-US"/>
        </a:defPPr>
      </a:lstStyle>
    </a:spDef>
    <a:lnDef>
      <a:spPr>
        <a:ln w="12700">
          <a:solidFill>
            <a:srgbClr val="E451D3"/>
          </a:solidFill>
          <a:prstDash val="sysDash"/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</Words>
  <Application>WPS 演示</Application>
  <PresentationFormat>On-screen Show (4:3)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思源黑体-超粗体</vt:lpstr>
      <vt:lpstr>黑体</vt:lpstr>
      <vt:lpstr>Arimo</vt:lpstr>
      <vt:lpstr>Arial Unicode MS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COOFANDY Q1总结 -2025年 </dc:title>
  <dc:creator/>
  <cp:lastModifiedBy>OCD</cp:lastModifiedBy>
  <cp:revision>177</cp:revision>
  <dcterms:created xsi:type="dcterms:W3CDTF">2006-08-16T00:00:00Z</dcterms:created>
  <dcterms:modified xsi:type="dcterms:W3CDTF">2026-01-27T04:09:22Z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D2AB9D300B9546B7889F8D66E13EFC7C_13</vt:lpwstr>
  </property>
  <property fmtid="{D5CDD505-2E9C-101B-9397-08002B2CF9AE}" pid="3" name="KSOProductBuildVer">
    <vt:lpwstr>2052-12.1.0.24657</vt:lpwstr>
  </property>
</Properties>
</file>
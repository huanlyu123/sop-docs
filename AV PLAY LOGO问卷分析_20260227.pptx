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6"/>
  </p:notesMasterIdLst>
  <p:sldIdLst>
    <p:sldId id="256" r:id="rId4"/>
    <p:sldId id="258" r:id="rId5"/>
    <p:sldId id="260" r:id="rId7"/>
    <p:sldId id="257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admin\Downloads\02.23.2026%20-%203%20question%20survey%20(100%20responses)%20-%20PickFu%20-%20jdc9dQvEiu.csv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'[02.23.2026 - 3 question survey (100 responses) - PickFu - jdc9dQvEiu.csv]Sheet3'!$A$19</c:f>
              <c:strCache>
                <c:ptCount val="1"/>
                <c:pt idx="0">
                  <c:v>A：过于露骨、很不吸引人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  <a:ln>
              <a:noFill/>
            </a:ln>
            <a:effectLst>
              <a:outerShdw blurRad="76200" dist="25400" dir="2700000" algn="tl" rotWithShape="0">
                <a:schemeClr val="accent1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'[02.23.2026 - 3 question survey (100 responses) - PickFu - jdc9dQvEiu.csv]Sheet3'!$B$18:$D$18</c:f>
              <c:strCache>
                <c:ptCount val="3"/>
                <c:pt idx="0">
                  <c:v>已购用户</c:v>
                </c:pt>
                <c:pt idx="1">
                  <c:v>潜在用户</c:v>
                </c:pt>
                <c:pt idx="2">
                  <c:v>非目标用户</c:v>
                </c:pt>
              </c:strCache>
            </c:strRef>
          </c:cat>
          <c:val>
            <c:numRef>
              <c:f>'[02.23.2026 - 3 question survey (100 responses) - PickFu - jdc9dQvEiu.csv]Sheet3'!$B$19:$D$19</c:f>
              <c:numCache>
                <c:formatCode>0%</c:formatCode>
                <c:ptCount val="3"/>
                <c:pt idx="0">
                  <c:v>0.0727272727272727</c:v>
                </c:pt>
                <c:pt idx="1">
                  <c:v>0.0357142857142857</c:v>
                </c:pt>
                <c:pt idx="2">
                  <c:v>0.235294117647059</c:v>
                </c:pt>
              </c:numCache>
            </c:numRef>
          </c:val>
        </c:ser>
        <c:ser>
          <c:idx val="1"/>
          <c:order val="1"/>
          <c:tx>
            <c:strRef>
              <c:f>'[02.23.2026 - 3 question survey (100 responses) - PickFu - jdc9dQvEiu.csv]Sheet3'!$A$20</c:f>
              <c:strCache>
                <c:ptCount val="1"/>
                <c:pt idx="0">
                  <c:v>B：有点露骨、不太有吸引力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76200" dist="25400" dir="2700000" algn="tl" rotWithShape="0">
                <a:schemeClr val="accent2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'[02.23.2026 - 3 question survey (100 responses) - PickFu - jdc9dQvEiu.csv]Sheet3'!$B$18:$D$18</c:f>
              <c:strCache>
                <c:ptCount val="3"/>
                <c:pt idx="0">
                  <c:v>已购用户</c:v>
                </c:pt>
                <c:pt idx="1">
                  <c:v>潜在用户</c:v>
                </c:pt>
                <c:pt idx="2">
                  <c:v>非目标用户</c:v>
                </c:pt>
              </c:strCache>
            </c:strRef>
          </c:cat>
          <c:val>
            <c:numRef>
              <c:f>'[02.23.2026 - 3 question survey (100 responses) - PickFu - jdc9dQvEiu.csv]Sheet3'!$B$20:$D$20</c:f>
              <c:numCache>
                <c:formatCode>0%</c:formatCode>
                <c:ptCount val="3"/>
                <c:pt idx="0">
                  <c:v>0.181818181818182</c:v>
                </c:pt>
                <c:pt idx="1">
                  <c:v>0.214285714285714</c:v>
                </c:pt>
                <c:pt idx="2">
                  <c:v>0.117647058823529</c:v>
                </c:pt>
              </c:numCache>
            </c:numRef>
          </c:val>
        </c:ser>
        <c:ser>
          <c:idx val="2"/>
          <c:order val="2"/>
          <c:tx>
            <c:strRef>
              <c:f>'[02.23.2026 - 3 question survey (100 responses) - PickFu - jdc9dQvEiu.csv]Sheet3'!$A$21</c:f>
              <c:strCache>
                <c:ptCount val="1"/>
                <c:pt idx="0">
                  <c:v>C： 中立、没什么情感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>
              <a:outerShdw blurRad="76200" dist="25400" dir="2700000" algn="tl" rotWithShape="0">
                <a:schemeClr val="accent3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'[02.23.2026 - 3 question survey (100 responses) - PickFu - jdc9dQvEiu.csv]Sheet3'!$B$18:$D$18</c:f>
              <c:strCache>
                <c:ptCount val="3"/>
                <c:pt idx="0">
                  <c:v>已购用户</c:v>
                </c:pt>
                <c:pt idx="1">
                  <c:v>潜在用户</c:v>
                </c:pt>
                <c:pt idx="2">
                  <c:v>非目标用户</c:v>
                </c:pt>
              </c:strCache>
            </c:strRef>
          </c:cat>
          <c:val>
            <c:numRef>
              <c:f>'[02.23.2026 - 3 question survey (100 responses) - PickFu - jdc9dQvEiu.csv]Sheet3'!$B$21:$D$21</c:f>
              <c:numCache>
                <c:formatCode>0%</c:formatCode>
                <c:ptCount val="3"/>
                <c:pt idx="0">
                  <c:v>0.272727272727273</c:v>
                </c:pt>
                <c:pt idx="1">
                  <c:v>0.214285714285714</c:v>
                </c:pt>
                <c:pt idx="2">
                  <c:v>0.411764705882353</c:v>
                </c:pt>
              </c:numCache>
            </c:numRef>
          </c:val>
        </c:ser>
        <c:ser>
          <c:idx val="3"/>
          <c:order val="3"/>
          <c:tx>
            <c:strRef>
              <c:f>'[02.23.2026 - 3 question survey (100 responses) - PickFu - jdc9dQvEiu.csv]Sheet3'!$A$22</c:f>
              <c:strCache>
                <c:ptCount val="1"/>
                <c:pt idx="0">
                  <c:v>D：较雅致、较有吸引力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76200" dist="25400" dir="2700000" algn="tl" rotWithShape="0">
                <a:schemeClr val="accent1">
                  <a:lumMod val="75000"/>
                  <a:alpha val="30000"/>
                </a:schemeClr>
              </a:outerShdw>
            </a:effectLst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'[02.23.2026 - 3 question survey (100 responses) - PickFu - jdc9dQvEiu.csv]Sheet3'!$B$18:$D$18</c:f>
              <c:strCache>
                <c:ptCount val="3"/>
                <c:pt idx="0">
                  <c:v>已购用户</c:v>
                </c:pt>
                <c:pt idx="1">
                  <c:v>潜在用户</c:v>
                </c:pt>
                <c:pt idx="2">
                  <c:v>非目标用户</c:v>
                </c:pt>
              </c:strCache>
            </c:strRef>
          </c:cat>
          <c:val>
            <c:numRef>
              <c:f>'[02.23.2026 - 3 question survey (100 responses) - PickFu - jdc9dQvEiu.csv]Sheet3'!$B$22:$D$22</c:f>
              <c:numCache>
                <c:formatCode>0%</c:formatCode>
                <c:ptCount val="3"/>
                <c:pt idx="0">
                  <c:v>0.309090909090909</c:v>
                </c:pt>
                <c:pt idx="1">
                  <c:v>0.392857142857143</c:v>
                </c:pt>
                <c:pt idx="2">
                  <c:v>0.117647058823529</c:v>
                </c:pt>
              </c:numCache>
            </c:numRef>
          </c:val>
        </c:ser>
        <c:ser>
          <c:idx val="4"/>
          <c:order val="4"/>
          <c:tx>
            <c:strRef>
              <c:f>'[02.23.2026 - 3 question survey (100 responses) - PickFu - jdc9dQvEiu.csv]Sheet3'!$A$23</c:f>
              <c:strCache>
                <c:ptCount val="1"/>
                <c:pt idx="0">
                  <c:v>E：非常雅致、很有吸引力</c:v>
                </c:pt>
              </c:strCache>
            </c:strRef>
          </c:tx>
          <c:spPr>
            <a:solidFill>
              <a:schemeClr val="accent4">
                <a:lumMod val="50000"/>
              </a:schemeClr>
            </a:solidFill>
            <a:ln>
              <a:noFill/>
            </a:ln>
            <a:effectLst>
              <a:outerShdw blurRad="76200" dist="25400" dir="2700000" algn="tl" rotWithShape="0">
                <a:schemeClr val="accent5">
                  <a:lumMod val="50000"/>
                  <a:alpha val="30000"/>
                </a:schemeClr>
              </a:outerShdw>
            </a:effectLst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'[02.23.2026 - 3 question survey (100 responses) - PickFu - jdc9dQvEiu.csv]Sheet3'!$B$18:$D$18</c:f>
              <c:strCache>
                <c:ptCount val="3"/>
                <c:pt idx="0">
                  <c:v>已购用户</c:v>
                </c:pt>
                <c:pt idx="1">
                  <c:v>潜在用户</c:v>
                </c:pt>
                <c:pt idx="2">
                  <c:v>非目标用户</c:v>
                </c:pt>
              </c:strCache>
            </c:strRef>
          </c:cat>
          <c:val>
            <c:numRef>
              <c:f>'[02.23.2026 - 3 question survey (100 responses) - PickFu - jdc9dQvEiu.csv]Sheet3'!$B$23:$D$23</c:f>
              <c:numCache>
                <c:formatCode>0%</c:formatCode>
                <c:ptCount val="3"/>
                <c:pt idx="0">
                  <c:v>0.163636363636364</c:v>
                </c:pt>
                <c:pt idx="1">
                  <c:v>0.142857142857143</c:v>
                </c:pt>
                <c:pt idx="2">
                  <c:v>0.117647058823529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100"/>
        <c:axId val="149705160"/>
        <c:axId val="855116657"/>
      </c:barChart>
      <c:catAx>
        <c:axId val="14970516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55116657"/>
        <c:crosses val="autoZero"/>
        <c:auto val="1"/>
        <c:lblAlgn val="ctr"/>
        <c:lblOffset val="100"/>
        <c:noMultiLvlLbl val="0"/>
      </c:catAx>
      <c:valAx>
        <c:axId val="85511665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497051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1a3196c-18b8-428c-a13b-c2d99f8e9617}"/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gradFill>
        <a:gsLst>
          <a:gs pos="0">
            <a:schemeClr val="phClr">
              <a:lumMod val="40000"/>
              <a:lumOff val="60000"/>
            </a:schemeClr>
          </a:gs>
          <a:gs pos="90000">
            <a:schemeClr val="phClr"/>
          </a:gs>
        </a:gsLst>
        <a:lin ang="5400000" scaled="0"/>
      </a:gradFill>
      <a:ln>
        <a:gradFill>
          <a:gsLst>
            <a:gs pos="0">
              <a:schemeClr val="phClr"/>
            </a:gs>
            <a:gs pos="100000">
              <a:schemeClr val="phClr">
                <a:lumMod val="75000"/>
              </a:schemeClr>
            </a:gs>
          </a:gsLst>
          <a:lin ang="5400000" scaled="1"/>
        </a:gradFill>
      </a:ln>
      <a:effectLst>
        <a:outerShdw blurRad="76200" dist="25400" dir="2700000" algn="tl" rotWithShape="0">
          <a:schemeClr val="phClr">
            <a:lumMod val="50000"/>
            <a:alpha val="30000"/>
          </a:schemeClr>
        </a:outerShdw>
      </a:effectLst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大数字配内容_2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524000"/>
            <a:ext cx="5334000" cy="120060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80%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2978607"/>
            <a:ext cx="53340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9" name="内容占位符 8"/>
          <p:cNvSpPr>
            <a:spLocks noGrp="1"/>
          </p:cNvSpPr>
          <p:nvPr>
            <p:ph idx="16390" hasCustomPrompt="1"/>
            <p:custDataLst>
              <p:tags r:id="rId5"/>
            </p:custDataLst>
          </p:nvPr>
        </p:nvSpPr>
        <p:spPr>
          <a:xfrm>
            <a:off x="609600" y="3537407"/>
            <a:ext cx="5334000" cy="2997200"/>
          </a:xfrm>
          <a:custGeom>
            <a:avLst/>
            <a:gdLst>
              <a:gd name="connisteX0" fmla="*/ 0 w 5334000"/>
              <a:gd name="connsiteY0" fmla="*/ 203200 h 2997200"/>
              <a:gd name="connisteX1" fmla="*/ 203200 w 5334000"/>
              <a:gd name="connsiteY1" fmla="*/ 0 h 2997200"/>
              <a:gd name="connisteX2" fmla="*/ 5130800 w 5334000"/>
              <a:gd name="connsiteY2" fmla="*/ 0 h 2997200"/>
              <a:gd name="connisteX3" fmla="*/ 5334000 w 5334000"/>
              <a:gd name="connsiteY3" fmla="*/ 203200 h 2997200"/>
              <a:gd name="connisteX4" fmla="*/ 5334000 w 5334000"/>
              <a:gd name="connsiteY4" fmla="*/ 2794000 h 2997200"/>
              <a:gd name="connisteX5" fmla="*/ 5130800 w 5334000"/>
              <a:gd name="connsiteY5" fmla="*/ 2997200 h 2997200"/>
              <a:gd name="connisteX6" fmla="*/ 203200 w 5334000"/>
              <a:gd name="connsiteY6" fmla="*/ 2997200 h 2997200"/>
              <a:gd name="connisteX7" fmla="*/ 0 w 5334000"/>
              <a:gd name="connsiteY7" fmla="*/ 2794000 h 2997200"/>
              <a:gd name="connisteX8" fmla="*/ 0 w 5334000"/>
              <a:gd name="connsiteY8" fmla="*/ 20320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99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794000"/>
                </a:lnTo>
                <a:cubicBezTo>
                  <a:pt x="5334000" y="2906224"/>
                  <a:pt x="5243024" y="2997200"/>
                  <a:pt x="51308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248400" y="1524000"/>
            <a:ext cx="5334000" cy="120060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10W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248400" y="2978607"/>
            <a:ext cx="53340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内容占位符 11"/>
          <p:cNvSpPr>
            <a:spLocks noGrp="1"/>
          </p:cNvSpPr>
          <p:nvPr>
            <p:ph idx="16391" hasCustomPrompt="1"/>
            <p:custDataLst>
              <p:tags r:id="rId8"/>
            </p:custDataLst>
          </p:nvPr>
        </p:nvSpPr>
        <p:spPr>
          <a:xfrm>
            <a:off x="6248400" y="3537407"/>
            <a:ext cx="5334000" cy="2997200"/>
          </a:xfrm>
          <a:custGeom>
            <a:avLst/>
            <a:gdLst>
              <a:gd name="connisteX0" fmla="*/ 0 w 5334000"/>
              <a:gd name="connsiteY0" fmla="*/ 203200 h 2997200"/>
              <a:gd name="connisteX1" fmla="*/ 203200 w 5334000"/>
              <a:gd name="connsiteY1" fmla="*/ 0 h 2997200"/>
              <a:gd name="connisteX2" fmla="*/ 5130800 w 5334000"/>
              <a:gd name="connsiteY2" fmla="*/ 0 h 2997200"/>
              <a:gd name="connisteX3" fmla="*/ 5334000 w 5334000"/>
              <a:gd name="connsiteY3" fmla="*/ 203200 h 2997200"/>
              <a:gd name="connisteX4" fmla="*/ 5334000 w 5334000"/>
              <a:gd name="connsiteY4" fmla="*/ 2794000 h 2997200"/>
              <a:gd name="connisteX5" fmla="*/ 5130800 w 5334000"/>
              <a:gd name="connsiteY5" fmla="*/ 2997200 h 2997200"/>
              <a:gd name="connisteX6" fmla="*/ 203200 w 5334000"/>
              <a:gd name="connsiteY6" fmla="*/ 2997200 h 2997200"/>
              <a:gd name="connisteX7" fmla="*/ 0 w 5334000"/>
              <a:gd name="connsiteY7" fmla="*/ 2794000 h 2997200"/>
              <a:gd name="connisteX8" fmla="*/ 0 w 5334000"/>
              <a:gd name="connsiteY8" fmla="*/ 20320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99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794000"/>
                </a:lnTo>
                <a:cubicBezTo>
                  <a:pt x="5334000" y="2906224"/>
                  <a:pt x="5243024" y="2997200"/>
                  <a:pt x="51308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本卡片和总结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3" hasCustomPrompt="1"/>
            <p:custDataLst>
              <p:tags r:id="rId3"/>
            </p:custDataLst>
          </p:nvPr>
        </p:nvSpPr>
        <p:spPr>
          <a:xfrm>
            <a:off x="609600" y="1524000"/>
            <a:ext cx="3454400" cy="3657600"/>
          </a:xfrm>
          <a:custGeom>
            <a:avLst/>
            <a:gdLst>
              <a:gd name="connisteX0" fmla="*/ 0 w 3454400"/>
              <a:gd name="connsiteY0" fmla="*/ 203200 h 3657600"/>
              <a:gd name="connisteX1" fmla="*/ 203200 w 3454400"/>
              <a:gd name="connsiteY1" fmla="*/ 0 h 3657600"/>
              <a:gd name="connisteX2" fmla="*/ 3251200 w 3454400"/>
              <a:gd name="connsiteY2" fmla="*/ 0 h 3657600"/>
              <a:gd name="connisteX3" fmla="*/ 3454400 w 3454400"/>
              <a:gd name="connsiteY3" fmla="*/ 203200 h 3657600"/>
              <a:gd name="connisteX4" fmla="*/ 3454400 w 3454400"/>
              <a:gd name="connsiteY4" fmla="*/ 3454400 h 3657600"/>
              <a:gd name="connisteX5" fmla="*/ 3251200 w 3454400"/>
              <a:gd name="connsiteY5" fmla="*/ 3657600 h 3657600"/>
              <a:gd name="connisteX6" fmla="*/ 203200 w 3454400"/>
              <a:gd name="connsiteY6" fmla="*/ 3657600 h 3657600"/>
              <a:gd name="connisteX7" fmla="*/ 0 w 3454400"/>
              <a:gd name="connsiteY7" fmla="*/ 3454400 h 3657600"/>
              <a:gd name="connisteX8" fmla="*/ 0 w 3454400"/>
              <a:gd name="connsiteY8" fmla="*/ 203200 h 365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65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454400"/>
                </a:lnTo>
                <a:cubicBezTo>
                  <a:pt x="3454400" y="3566624"/>
                  <a:pt x="3363424" y="3657600"/>
                  <a:pt x="3251200" y="3657600"/>
                </a:cubicBezTo>
                <a:lnTo>
                  <a:pt x="203200" y="3657600"/>
                </a:lnTo>
                <a:cubicBezTo>
                  <a:pt x="90976" y="3657600"/>
                  <a:pt x="0" y="3566624"/>
                  <a:pt x="0" y="3454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14400" y="2311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914400" y="2870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4368800" y="1524000"/>
            <a:ext cx="3454400" cy="3657600"/>
          </a:xfrm>
          <a:custGeom>
            <a:avLst/>
            <a:gdLst>
              <a:gd name="connisteX0" fmla="*/ 0 w 3454400"/>
              <a:gd name="connsiteY0" fmla="*/ 203200 h 3657600"/>
              <a:gd name="connisteX1" fmla="*/ 203200 w 3454400"/>
              <a:gd name="connsiteY1" fmla="*/ 0 h 3657600"/>
              <a:gd name="connisteX2" fmla="*/ 3251200 w 3454400"/>
              <a:gd name="connsiteY2" fmla="*/ 0 h 3657600"/>
              <a:gd name="connisteX3" fmla="*/ 3454400 w 3454400"/>
              <a:gd name="connsiteY3" fmla="*/ 203200 h 3657600"/>
              <a:gd name="connisteX4" fmla="*/ 3454400 w 3454400"/>
              <a:gd name="connsiteY4" fmla="*/ 3454400 h 3657600"/>
              <a:gd name="connisteX5" fmla="*/ 3251200 w 3454400"/>
              <a:gd name="connsiteY5" fmla="*/ 3657600 h 3657600"/>
              <a:gd name="connisteX6" fmla="*/ 203200 w 3454400"/>
              <a:gd name="connsiteY6" fmla="*/ 3657600 h 3657600"/>
              <a:gd name="connisteX7" fmla="*/ 0 w 3454400"/>
              <a:gd name="connsiteY7" fmla="*/ 3454400 h 3657600"/>
              <a:gd name="connisteX8" fmla="*/ 0 w 3454400"/>
              <a:gd name="connsiteY8" fmla="*/ 203200 h 365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65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454400"/>
                </a:lnTo>
                <a:cubicBezTo>
                  <a:pt x="3454400" y="3566624"/>
                  <a:pt x="3363424" y="3657600"/>
                  <a:pt x="3251200" y="3657600"/>
                </a:cubicBezTo>
                <a:lnTo>
                  <a:pt x="203200" y="3657600"/>
                </a:lnTo>
                <a:cubicBezTo>
                  <a:pt x="90976" y="3657600"/>
                  <a:pt x="0" y="3566624"/>
                  <a:pt x="0" y="3454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673600" y="2311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4673600" y="2870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5" hasCustomPrompt="1"/>
            <p:custDataLst>
              <p:tags r:id="rId9"/>
            </p:custDataLst>
          </p:nvPr>
        </p:nvSpPr>
        <p:spPr>
          <a:xfrm>
            <a:off x="8128000" y="1524000"/>
            <a:ext cx="3454400" cy="3657600"/>
          </a:xfrm>
          <a:custGeom>
            <a:avLst/>
            <a:gdLst>
              <a:gd name="connisteX0" fmla="*/ 0 w 3454400"/>
              <a:gd name="connsiteY0" fmla="*/ 203200 h 3657600"/>
              <a:gd name="connisteX1" fmla="*/ 203200 w 3454400"/>
              <a:gd name="connsiteY1" fmla="*/ 0 h 3657600"/>
              <a:gd name="connisteX2" fmla="*/ 3251200 w 3454400"/>
              <a:gd name="connsiteY2" fmla="*/ 0 h 3657600"/>
              <a:gd name="connisteX3" fmla="*/ 3454400 w 3454400"/>
              <a:gd name="connsiteY3" fmla="*/ 203200 h 3657600"/>
              <a:gd name="connisteX4" fmla="*/ 3454400 w 3454400"/>
              <a:gd name="connsiteY4" fmla="*/ 3454400 h 3657600"/>
              <a:gd name="connisteX5" fmla="*/ 3251200 w 3454400"/>
              <a:gd name="connsiteY5" fmla="*/ 3657600 h 3657600"/>
              <a:gd name="connisteX6" fmla="*/ 203200 w 3454400"/>
              <a:gd name="connsiteY6" fmla="*/ 3657600 h 3657600"/>
              <a:gd name="connisteX7" fmla="*/ 0 w 3454400"/>
              <a:gd name="connsiteY7" fmla="*/ 3454400 h 3657600"/>
              <a:gd name="connisteX8" fmla="*/ 0 w 3454400"/>
              <a:gd name="connsiteY8" fmla="*/ 203200 h 365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65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454400"/>
                </a:lnTo>
                <a:cubicBezTo>
                  <a:pt x="3454400" y="3566624"/>
                  <a:pt x="3363424" y="3657600"/>
                  <a:pt x="3251200" y="3657600"/>
                </a:cubicBezTo>
                <a:lnTo>
                  <a:pt x="203200" y="3657600"/>
                </a:lnTo>
                <a:cubicBezTo>
                  <a:pt x="90976" y="3657600"/>
                  <a:pt x="0" y="3566624"/>
                  <a:pt x="0" y="3454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8432800" y="2311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2" hasCustomPrompt="1"/>
            <p:custDataLst>
              <p:tags r:id="rId11"/>
            </p:custDataLst>
          </p:nvPr>
        </p:nvSpPr>
        <p:spPr>
          <a:xfrm>
            <a:off x="8432800" y="2870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2"/>
            </p:custDataLst>
          </p:nvPr>
        </p:nvSpPr>
        <p:spPr>
          <a:xfrm>
            <a:off x="609600" y="56388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大数字配内容_2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524000"/>
            <a:ext cx="5334000" cy="120060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80%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2978607"/>
            <a:ext cx="53340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9" name="内容占位符 8"/>
          <p:cNvSpPr>
            <a:spLocks noGrp="1"/>
          </p:cNvSpPr>
          <p:nvPr>
            <p:ph idx="16390" hasCustomPrompt="1"/>
            <p:custDataLst>
              <p:tags r:id="rId5"/>
            </p:custDataLst>
          </p:nvPr>
        </p:nvSpPr>
        <p:spPr>
          <a:xfrm>
            <a:off x="609600" y="3537407"/>
            <a:ext cx="5334000" cy="2997200"/>
          </a:xfrm>
          <a:custGeom>
            <a:avLst/>
            <a:gdLst>
              <a:gd name="connisteX0" fmla="*/ 0 w 5334000"/>
              <a:gd name="connsiteY0" fmla="*/ 203200 h 2997200"/>
              <a:gd name="connisteX1" fmla="*/ 203200 w 5334000"/>
              <a:gd name="connsiteY1" fmla="*/ 0 h 2997200"/>
              <a:gd name="connisteX2" fmla="*/ 5130800 w 5334000"/>
              <a:gd name="connsiteY2" fmla="*/ 0 h 2997200"/>
              <a:gd name="connisteX3" fmla="*/ 5334000 w 5334000"/>
              <a:gd name="connsiteY3" fmla="*/ 203200 h 2997200"/>
              <a:gd name="connisteX4" fmla="*/ 5334000 w 5334000"/>
              <a:gd name="connsiteY4" fmla="*/ 2794000 h 2997200"/>
              <a:gd name="connisteX5" fmla="*/ 5130800 w 5334000"/>
              <a:gd name="connsiteY5" fmla="*/ 2997200 h 2997200"/>
              <a:gd name="connisteX6" fmla="*/ 203200 w 5334000"/>
              <a:gd name="connsiteY6" fmla="*/ 2997200 h 2997200"/>
              <a:gd name="connisteX7" fmla="*/ 0 w 5334000"/>
              <a:gd name="connsiteY7" fmla="*/ 2794000 h 2997200"/>
              <a:gd name="connisteX8" fmla="*/ 0 w 5334000"/>
              <a:gd name="connsiteY8" fmla="*/ 20320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99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794000"/>
                </a:lnTo>
                <a:cubicBezTo>
                  <a:pt x="5334000" y="2906224"/>
                  <a:pt x="5243024" y="2997200"/>
                  <a:pt x="51308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248400" y="1524000"/>
            <a:ext cx="5334000" cy="120060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10W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248400" y="2978607"/>
            <a:ext cx="53340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内容占位符 11"/>
          <p:cNvSpPr>
            <a:spLocks noGrp="1"/>
          </p:cNvSpPr>
          <p:nvPr>
            <p:ph idx="16391" hasCustomPrompt="1"/>
            <p:custDataLst>
              <p:tags r:id="rId8"/>
            </p:custDataLst>
          </p:nvPr>
        </p:nvSpPr>
        <p:spPr>
          <a:xfrm>
            <a:off x="6248400" y="3537407"/>
            <a:ext cx="5334000" cy="2997200"/>
          </a:xfrm>
          <a:custGeom>
            <a:avLst/>
            <a:gdLst>
              <a:gd name="connisteX0" fmla="*/ 0 w 5334000"/>
              <a:gd name="connsiteY0" fmla="*/ 203200 h 2997200"/>
              <a:gd name="connisteX1" fmla="*/ 203200 w 5334000"/>
              <a:gd name="connsiteY1" fmla="*/ 0 h 2997200"/>
              <a:gd name="connisteX2" fmla="*/ 5130800 w 5334000"/>
              <a:gd name="connsiteY2" fmla="*/ 0 h 2997200"/>
              <a:gd name="connisteX3" fmla="*/ 5334000 w 5334000"/>
              <a:gd name="connsiteY3" fmla="*/ 203200 h 2997200"/>
              <a:gd name="connisteX4" fmla="*/ 5334000 w 5334000"/>
              <a:gd name="connsiteY4" fmla="*/ 2794000 h 2997200"/>
              <a:gd name="connisteX5" fmla="*/ 5130800 w 5334000"/>
              <a:gd name="connsiteY5" fmla="*/ 2997200 h 2997200"/>
              <a:gd name="connisteX6" fmla="*/ 203200 w 5334000"/>
              <a:gd name="connsiteY6" fmla="*/ 2997200 h 2997200"/>
              <a:gd name="connisteX7" fmla="*/ 0 w 5334000"/>
              <a:gd name="connsiteY7" fmla="*/ 2794000 h 2997200"/>
              <a:gd name="connisteX8" fmla="*/ 0 w 5334000"/>
              <a:gd name="connsiteY8" fmla="*/ 20320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99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794000"/>
                </a:lnTo>
                <a:cubicBezTo>
                  <a:pt x="5334000" y="2906224"/>
                  <a:pt x="5243024" y="2997200"/>
                  <a:pt x="51308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80.xml"/><Relationship Id="rId18" Type="http://schemas.openxmlformats.org/officeDocument/2006/relationships/tags" Target="../tags/tag79.xml"/><Relationship Id="rId17" Type="http://schemas.openxmlformats.org/officeDocument/2006/relationships/tags" Target="../tags/tag78.xml"/><Relationship Id="rId16" Type="http://schemas.openxmlformats.org/officeDocument/2006/relationships/tags" Target="../tags/tag77.xml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9" Type="http://schemas.openxmlformats.org/officeDocument/2006/relationships/theme" Target="../theme/theme2.xml"/><Relationship Id="rId18" Type="http://schemas.openxmlformats.org/officeDocument/2006/relationships/tags" Target="../tags/tag149.xml"/><Relationship Id="rId17" Type="http://schemas.openxmlformats.org/officeDocument/2006/relationships/tags" Target="../tags/tag148.xml"/><Relationship Id="rId16" Type="http://schemas.openxmlformats.org/officeDocument/2006/relationships/tags" Target="../tags/tag147.xml"/><Relationship Id="rId15" Type="http://schemas.openxmlformats.org/officeDocument/2006/relationships/tags" Target="../tags/tag146.xml"/><Relationship Id="rId14" Type="http://schemas.openxmlformats.org/officeDocument/2006/relationships/tags" Target="../tags/tag145.xml"/><Relationship Id="rId13" Type="http://schemas.openxmlformats.org/officeDocument/2006/relationships/tags" Target="../tags/tag144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51.xml"/><Relationship Id="rId2" Type="http://schemas.openxmlformats.org/officeDocument/2006/relationships/image" Target="../media/image1.png"/><Relationship Id="rId1" Type="http://schemas.openxmlformats.org/officeDocument/2006/relationships/tags" Target="../tags/tag15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154.xml"/><Relationship Id="rId5" Type="http://schemas.openxmlformats.org/officeDocument/2006/relationships/image" Target="../media/image4.png"/><Relationship Id="rId4" Type="http://schemas.openxmlformats.org/officeDocument/2006/relationships/image" Target="../media/image3.emf"/><Relationship Id="rId3" Type="http://schemas.openxmlformats.org/officeDocument/2006/relationships/image" Target="../media/image2.emf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25.xml"/><Relationship Id="rId11" Type="http://schemas.openxmlformats.org/officeDocument/2006/relationships/tags" Target="../tags/tag163.xml"/><Relationship Id="rId10" Type="http://schemas.openxmlformats.org/officeDocument/2006/relationships/image" Target="../media/image5.png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5.xml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tags" Target="../tags/tag16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72.xml"/><Relationship Id="rId8" Type="http://schemas.openxmlformats.org/officeDocument/2006/relationships/image" Target="../media/image7.png"/><Relationship Id="rId7" Type="http://schemas.openxmlformats.org/officeDocument/2006/relationships/image" Target="../media/image6.emf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0" Type="http://schemas.openxmlformats.org/officeDocument/2006/relationships/slideLayout" Target="../slideLayouts/slideLayout13.xml"/><Relationship Id="rId1" Type="http://schemas.openxmlformats.org/officeDocument/2006/relationships/tags" Target="../tags/tag16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81.xml"/><Relationship Id="rId8" Type="http://schemas.openxmlformats.org/officeDocument/2006/relationships/tags" Target="../tags/tag180.xml"/><Relationship Id="rId7" Type="http://schemas.openxmlformats.org/officeDocument/2006/relationships/tags" Target="../tags/tag179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3" Type="http://schemas.openxmlformats.org/officeDocument/2006/relationships/slideLayout" Target="../slideLayouts/slideLayout13.xml"/><Relationship Id="rId12" Type="http://schemas.openxmlformats.org/officeDocument/2006/relationships/tags" Target="../tags/tag184.xml"/><Relationship Id="rId11" Type="http://schemas.openxmlformats.org/officeDocument/2006/relationships/tags" Target="../tags/tag183.xml"/><Relationship Id="rId10" Type="http://schemas.openxmlformats.org/officeDocument/2006/relationships/tags" Target="../tags/tag182.xml"/><Relationship Id="rId1" Type="http://schemas.openxmlformats.org/officeDocument/2006/relationships/tags" Target="../tags/tag17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93.xml"/><Relationship Id="rId8" Type="http://schemas.openxmlformats.org/officeDocument/2006/relationships/tags" Target="../tags/tag192.xml"/><Relationship Id="rId7" Type="http://schemas.openxmlformats.org/officeDocument/2006/relationships/tags" Target="../tags/tag191.xml"/><Relationship Id="rId6" Type="http://schemas.openxmlformats.org/officeDocument/2006/relationships/tags" Target="../tags/tag190.xml"/><Relationship Id="rId5" Type="http://schemas.openxmlformats.org/officeDocument/2006/relationships/tags" Target="../tags/tag189.xml"/><Relationship Id="rId4" Type="http://schemas.openxmlformats.org/officeDocument/2006/relationships/tags" Target="../tags/tag188.xml"/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2" Type="http://schemas.openxmlformats.org/officeDocument/2006/relationships/slideLayout" Target="../slideLayouts/slideLayout13.xml"/><Relationship Id="rId11" Type="http://schemas.openxmlformats.org/officeDocument/2006/relationships/tags" Target="../tags/tag195.xml"/><Relationship Id="rId10" Type="http://schemas.openxmlformats.org/officeDocument/2006/relationships/tags" Target="../tags/tag194.xml"/><Relationship Id="rId1" Type="http://schemas.openxmlformats.org/officeDocument/2006/relationships/tags" Target="../tags/tag1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AV PLAY LOGO</a:t>
            </a:r>
            <a:r>
              <a:rPr lang="zh-CN" altLang="en-US"/>
              <a:t>问卷分析</a:t>
            </a:r>
            <a:endParaRPr lang="zh-CN" altLang="en-US"/>
          </a:p>
        </p:txBody>
      </p:sp>
      <p:pic>
        <p:nvPicPr>
          <p:cNvPr id="26" name="图片 25" descr="企业微信截图_1770281489678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3560445"/>
            <a:ext cx="4311015" cy="22974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样本总览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1379200" cy="2868295"/>
          </a:xfrm>
        </p:spPr>
        <p:txBody>
          <a:bodyPr>
            <a:normAutofit/>
          </a:bodyPr>
          <a:p>
            <a:r>
              <a:rPr lang="zh-CN" altLang="en-US"/>
              <a:t>样本量</a:t>
            </a:r>
            <a:r>
              <a:rPr lang="en-US" altLang="zh-CN"/>
              <a:t>99</a:t>
            </a:r>
            <a:r>
              <a:rPr lang="zh-CN" altLang="en-US"/>
              <a:t>，谨慎参考。</a:t>
            </a:r>
            <a:endParaRPr lang="zh-CN" altLang="en-US"/>
          </a:p>
          <a:p>
            <a:r>
              <a:rPr lang="zh-CN" altLang="en-US" b="1"/>
              <a:t>地区为美国</a:t>
            </a:r>
            <a:endParaRPr lang="zh-CN" altLang="en-US" b="1"/>
          </a:p>
          <a:p>
            <a:r>
              <a:rPr lang="zh-CN" altLang="en-US" b="1"/>
              <a:t>受访者男女平衡。</a:t>
            </a:r>
            <a:r>
              <a:rPr lang="en-US" altLang="zh-CN"/>
              <a:t> 57%</a:t>
            </a:r>
            <a:r>
              <a:rPr lang="zh-CN" altLang="en-US"/>
              <a:t>男性和</a:t>
            </a:r>
            <a:r>
              <a:rPr lang="en-US" altLang="zh-CN"/>
              <a:t>41%</a:t>
            </a:r>
            <a:r>
              <a:rPr lang="zh-CN" altLang="en-US"/>
              <a:t>女性回答者。</a:t>
            </a:r>
            <a:endParaRPr lang="zh-CN" altLang="en-US"/>
          </a:p>
          <a:p>
            <a:r>
              <a:rPr lang="zh-CN" altLang="en-US" b="1"/>
              <a:t>受访者大部分是</a:t>
            </a:r>
            <a:r>
              <a:rPr lang="en-US" altLang="zh-CN" b="1"/>
              <a:t>25-45</a:t>
            </a:r>
            <a:r>
              <a:rPr lang="zh-CN" altLang="en-US" b="1"/>
              <a:t>岁中青年群体</a:t>
            </a:r>
            <a:r>
              <a:rPr lang="zh-CN" altLang="en-US"/>
              <a:t>。</a:t>
            </a:r>
            <a:r>
              <a:rPr lang="en-US" altLang="zh-CN"/>
              <a:t>35-44</a:t>
            </a:r>
            <a:r>
              <a:rPr lang="zh-CN" altLang="en-US"/>
              <a:t>岁占比最高达到</a:t>
            </a:r>
            <a:r>
              <a:rPr lang="en-US" altLang="zh-CN"/>
              <a:t>74%</a:t>
            </a:r>
            <a:r>
              <a:rPr lang="zh-CN" altLang="en-US"/>
              <a:t>，</a:t>
            </a:r>
            <a:r>
              <a:rPr lang="en-US" altLang="zh-CN"/>
              <a:t>24%</a:t>
            </a:r>
            <a:r>
              <a:rPr lang="zh-CN" altLang="en-US"/>
              <a:t>位于</a:t>
            </a:r>
            <a:r>
              <a:rPr lang="en-US" altLang="zh-CN"/>
              <a:t>25-34</a:t>
            </a:r>
            <a:r>
              <a:rPr lang="zh-CN" altLang="en-US"/>
              <a:t>岁。</a:t>
            </a:r>
            <a:endParaRPr lang="zh-CN" altLang="en-US"/>
          </a:p>
          <a:p>
            <a:r>
              <a:rPr lang="zh-CN" altLang="en-US" b="1"/>
              <a:t>受访者大部分对情趣玩具有较高的接受程度</a:t>
            </a:r>
            <a:r>
              <a:rPr lang="zh-CN" altLang="en-US"/>
              <a:t>。</a:t>
            </a:r>
            <a:r>
              <a:rPr lang="en-US" altLang="zh-CN"/>
              <a:t>55%</a:t>
            </a:r>
            <a:r>
              <a:rPr lang="zh-CN" altLang="en-US"/>
              <a:t>过去购买过情趣玩具（已购用户），</a:t>
            </a:r>
            <a:r>
              <a:rPr lang="en-US" altLang="zh-CN"/>
              <a:t> 27%</a:t>
            </a:r>
            <a:r>
              <a:rPr lang="zh-CN" altLang="en-US"/>
              <a:t>未购买过但持开放态度（潜在用户），</a:t>
            </a:r>
            <a:r>
              <a:rPr lang="en-US" altLang="zh-CN"/>
              <a:t>17%</a:t>
            </a:r>
            <a:r>
              <a:rPr lang="zh-CN" altLang="en-US"/>
              <a:t>对情趣玩具不感兴趣（非目标用户）。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rcRect r="35450"/>
          <a:stretch>
            <a:fillRect/>
          </a:stretch>
        </p:blipFill>
        <p:spPr>
          <a:xfrm>
            <a:off x="190500" y="4724400"/>
            <a:ext cx="4030980" cy="17240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rcRect r="36113"/>
          <a:stretch>
            <a:fillRect/>
          </a:stretch>
        </p:blipFill>
        <p:spPr>
          <a:xfrm>
            <a:off x="4119245" y="5092065"/>
            <a:ext cx="4030345" cy="1356360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5"/>
          <a:stretch>
            <a:fillRect/>
          </a:stretch>
        </p:blipFill>
        <p:spPr>
          <a:xfrm>
            <a:off x="8215630" y="4998720"/>
            <a:ext cx="3895090" cy="136461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8230235" y="5383530"/>
            <a:ext cx="38728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8215630" y="6134100"/>
            <a:ext cx="38728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499110" y="219710"/>
            <a:ext cx="10972800" cy="609600"/>
          </a:xfrm>
        </p:spPr>
        <p:txBody>
          <a:bodyPr>
            <a:noAutofit/>
          </a:bodyPr>
          <a:p>
            <a:r>
              <a:rPr lang="zh-CN" sz="2800"/>
              <a:t>描述性统计：认为</a:t>
            </a:r>
            <a:r>
              <a:rPr lang="en-US" altLang="zh-CN" sz="2800"/>
              <a:t>LOGO</a:t>
            </a:r>
            <a:r>
              <a:rPr lang="en-US" altLang="zh-CN" sz="2800">
                <a:sym typeface="+mn-ea"/>
              </a:rPr>
              <a:t>”</a:t>
            </a:r>
            <a:r>
              <a:rPr lang="zh-CN" altLang="en-US" sz="2800">
                <a:sym typeface="+mn-ea"/>
              </a:rPr>
              <a:t>有品味</a:t>
            </a:r>
            <a:r>
              <a:rPr lang="en-US" altLang="zh-CN" sz="2800">
                <a:sym typeface="+mn-ea"/>
              </a:rPr>
              <a:t>”&gt;“</a:t>
            </a:r>
            <a:r>
              <a:rPr lang="zh-CN" altLang="en-US" sz="2800">
                <a:sym typeface="+mn-ea"/>
              </a:rPr>
              <a:t>露骨</a:t>
            </a:r>
            <a:r>
              <a:rPr lang="en-US" altLang="zh-CN" sz="2800">
                <a:sym typeface="+mn-ea"/>
              </a:rPr>
              <a:t>”</a:t>
            </a:r>
            <a:r>
              <a:rPr lang="zh-CN" altLang="en-US" sz="2800">
                <a:sym typeface="+mn-ea"/>
              </a:rPr>
              <a:t>，但中立比例很大</a:t>
            </a:r>
            <a:endParaRPr lang="en-US" altLang="zh-CN" sz="280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548640" y="2468880"/>
            <a:ext cx="5394960" cy="509905"/>
          </a:xfrm>
        </p:spPr>
        <p:txBody>
          <a:bodyPr>
            <a:noAutofit/>
          </a:bodyPr>
          <a:p>
            <a:r>
              <a:rPr lang="en-US" altLang="zh-CN" sz="3200"/>
              <a:t>60%</a:t>
            </a:r>
            <a:r>
              <a:rPr lang="zh-CN" altLang="en-US" sz="3200"/>
              <a:t>的中立情感</a:t>
            </a:r>
            <a:endParaRPr lang="zh-CN" altLang="en-US" sz="320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无提示评价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0"/>
            <p:custDataLst>
              <p:tags r:id="rId5"/>
            </p:custDataLst>
          </p:nvPr>
        </p:nvSpPr>
        <p:spPr>
          <a:xfrm>
            <a:off x="609600" y="3537585"/>
            <a:ext cx="5334000" cy="3223260"/>
          </a:xfrm>
        </p:spPr>
        <p:txBody>
          <a:bodyPr/>
          <a:p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有提示</a:t>
            </a:r>
            <a:r>
              <a:rPr lang="zh-CN"/>
              <a:t>评价</a:t>
            </a:r>
            <a:endParaRPr lang="zh-CN" altLang="en-US"/>
          </a:p>
        </p:txBody>
      </p:sp>
      <p:sp>
        <p:nvSpPr>
          <p:cNvPr id="19" name="内容占位符 18"/>
          <p:cNvSpPr>
            <a:spLocks noGrp="1"/>
          </p:cNvSpPr>
          <p:nvPr>
            <p:ph idx="16391"/>
            <p:custDataLst>
              <p:tags r:id="rId7"/>
            </p:custDataLst>
          </p:nvPr>
        </p:nvSpPr>
        <p:spPr>
          <a:xfrm>
            <a:off x="6248400" y="3537585"/>
            <a:ext cx="5334000" cy="3223260"/>
          </a:xfrm>
        </p:spPr>
        <p:txBody>
          <a:bodyPr/>
          <a:p>
            <a:endParaRPr lang="zh-CN" altLang="en-US"/>
          </a:p>
        </p:txBody>
      </p:sp>
      <p:graphicFrame>
        <p:nvGraphicFramePr>
          <p:cNvPr id="7" name="表格 6"/>
          <p:cNvGraphicFramePr/>
          <p:nvPr>
            <p:custDataLst>
              <p:tags r:id="rId8"/>
            </p:custDataLst>
          </p:nvPr>
        </p:nvGraphicFramePr>
        <p:xfrm>
          <a:off x="609600" y="3559175"/>
          <a:ext cx="5334000" cy="54991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358900"/>
                <a:gridCol w="1238250"/>
                <a:gridCol w="1217295"/>
                <a:gridCol w="829945"/>
                <a:gridCol w="689610"/>
              </a:tblGrid>
              <a:tr h="332105">
                <a:tc>
                  <a:txBody>
                    <a:bodyPr/>
                    <a:p>
                      <a:pPr algn="l" fontAlgn="ctr"/>
                      <a:r>
                        <a:rPr lang="zh-CN" altLang="en-US" sz="1200" b="1" i="0">
                          <a:solidFill>
                            <a:schemeClr val="bg1"/>
                          </a:solidFill>
                          <a:latin typeface="Segoe UI" panose="020B0502040204020203"/>
                          <a:ea typeface="Segoe UI" panose="020B0502040204020203"/>
                        </a:rPr>
                        <a:t>代码</a:t>
                      </a:r>
                      <a:endParaRPr lang="zh-CN" altLang="en-US" sz="1200" b="1" i="0">
                        <a:solidFill>
                          <a:schemeClr val="bg1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1" i="0">
                          <a:solidFill>
                            <a:schemeClr val="bg1"/>
                          </a:solidFill>
                          <a:latin typeface="Segoe UI" panose="020B0502040204020203"/>
                          <a:ea typeface="Segoe UI" panose="020B0502040204020203"/>
                        </a:rPr>
                        <a:t>Q1 - </a:t>
                      </a:r>
                      <a:r>
                        <a:rPr lang="zh-CN" altLang="en-US" sz="1200" b="1" i="0">
                          <a:solidFill>
                            <a:schemeClr val="bg1"/>
                          </a:solidFill>
                          <a:latin typeface="Segoe UI" panose="020B0502040204020203"/>
                          <a:ea typeface="Segoe UI" panose="020B0502040204020203"/>
                        </a:rPr>
                        <a:t>负向</a:t>
                      </a:r>
                      <a:endParaRPr lang="zh-CN" altLang="en-US" sz="1200" b="1" i="0">
                        <a:solidFill>
                          <a:schemeClr val="bg1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7937" marR="7937" marT="7937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1" i="0">
                          <a:solidFill>
                            <a:schemeClr val="bg1"/>
                          </a:solidFill>
                          <a:latin typeface="Segoe UI" panose="020B0502040204020203"/>
                          <a:ea typeface="Segoe UI" panose="020B0502040204020203"/>
                        </a:rPr>
                        <a:t>Q1 - </a:t>
                      </a:r>
                      <a:r>
                        <a:rPr lang="zh-CN" altLang="en-US" sz="1200" b="1" i="0">
                          <a:solidFill>
                            <a:schemeClr val="bg1"/>
                          </a:solidFill>
                          <a:latin typeface="Segoe UI" panose="020B0502040204020203"/>
                          <a:ea typeface="Segoe UI" panose="020B0502040204020203"/>
                        </a:rPr>
                        <a:t>混合</a:t>
                      </a:r>
                      <a:endParaRPr lang="zh-CN" altLang="en-US" sz="1200" b="1" i="0">
                        <a:solidFill>
                          <a:schemeClr val="bg1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7937" marR="7937" marT="7937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1" i="0">
                          <a:solidFill>
                            <a:schemeClr val="bg1"/>
                          </a:solidFill>
                          <a:latin typeface="Segoe UI" panose="020B0502040204020203"/>
                          <a:ea typeface="Segoe UI" panose="020B0502040204020203"/>
                        </a:rPr>
                        <a:t>Q1 - </a:t>
                      </a:r>
                      <a:r>
                        <a:rPr lang="zh-CN" altLang="en-US" sz="1200" b="1" i="0">
                          <a:solidFill>
                            <a:schemeClr val="bg1"/>
                          </a:solidFill>
                          <a:latin typeface="Segoe UI" panose="020B0502040204020203"/>
                          <a:ea typeface="Segoe UI" panose="020B0502040204020203"/>
                        </a:rPr>
                        <a:t>正向</a:t>
                      </a:r>
                      <a:endParaRPr lang="zh-CN" altLang="en-US" sz="1200" b="1" i="0">
                        <a:solidFill>
                          <a:schemeClr val="bg1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7937" marR="7937" marT="7937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1" i="0">
                          <a:solidFill>
                            <a:schemeClr val="bg1"/>
                          </a:solidFill>
                          <a:latin typeface="Segoe UI" panose="020B0502040204020203"/>
                          <a:ea typeface="Segoe UI" panose="020B0502040204020203"/>
                        </a:rPr>
                        <a:t>Q1 - </a:t>
                      </a:r>
                      <a:r>
                        <a:rPr lang="zh-CN" altLang="en-US" sz="1200" b="1" i="0">
                          <a:solidFill>
                            <a:schemeClr val="bg1"/>
                          </a:solidFill>
                          <a:latin typeface="Segoe UI" panose="020B0502040204020203"/>
                          <a:ea typeface="Segoe UI" panose="020B0502040204020203"/>
                        </a:rPr>
                        <a:t>中立</a:t>
                      </a:r>
                      <a:endParaRPr lang="zh-CN" altLang="en-US" sz="1200" b="1" i="0">
                        <a:solidFill>
                          <a:schemeClr val="bg1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7937" marR="7937" marT="7937" marB="0" anchor="t" anchorCtr="0"/>
                </a:tc>
              </a:tr>
              <a:tr h="217805"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参考数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10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7937" marR="7937" marT="7937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7937" marR="7937" marT="7937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18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7937" marR="7937" marT="7937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Segoe UI" panose="020B0502040204020203"/>
                          <a:ea typeface="Segoe UI" panose="020B0502040204020203"/>
                        </a:rPr>
                        <a:t>50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7937" marR="7937" marT="7937" marB="0" anchor="t" anchorCtr="0"/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243205" y="908050"/>
            <a:ext cx="11544935" cy="128143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在不提示的情况下，用户对</a:t>
            </a:r>
            <a:r>
              <a:rPr lang="en-US" altLang="zh-CN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LOGO</a:t>
            </a:r>
            <a:r>
              <a:rPr lang="zh-CN" altLang="en-US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第一感受以</a:t>
            </a:r>
            <a:r>
              <a:rPr lang="zh-CN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中立为主（</a:t>
            </a:r>
            <a:r>
              <a:rPr lang="en-US" altLang="zh-CN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60%</a:t>
            </a:r>
            <a:r>
              <a:rPr lang="zh-CN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r>
              <a:rPr lang="zh-CN" altLang="en-US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</a:t>
            </a:r>
            <a:r>
              <a:rPr lang="en-US" altLang="zh-CN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zh-CN" altLang="en-US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主动表达正向情感的只占</a:t>
            </a:r>
            <a:r>
              <a:rPr lang="en-US" altLang="zh-CN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22%</a:t>
            </a:r>
            <a:r>
              <a:rPr lang="zh-CN" altLang="en-US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</a:t>
            </a:r>
            <a:r>
              <a:rPr lang="zh-CN" altLang="en-US" sz="16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主动表达负向情感的只占</a:t>
            </a:r>
            <a:r>
              <a:rPr lang="en-US" altLang="zh-CN" sz="16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12%</a:t>
            </a:r>
            <a:r>
              <a:rPr lang="zh-CN" altLang="en-US" sz="16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，</a:t>
            </a:r>
            <a:r>
              <a:rPr lang="en-US" altLang="zh-CN" sz="16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zh-CN" altLang="en-US" sz="16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用户的感受主要是对图形的揣测。</a:t>
            </a:r>
            <a:endParaRPr lang="zh-CN" altLang="en-US" sz="16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在给出态度提示的情况下，</a:t>
            </a:r>
            <a:r>
              <a:rPr lang="zh-CN" altLang="en-US" sz="1600" b="1">
                <a:sym typeface="+mn-ea"/>
              </a:rPr>
              <a:t>用户的态度是认为</a:t>
            </a:r>
            <a:r>
              <a:rPr lang="en-US" altLang="zh-CN" sz="1600" b="1">
                <a:sym typeface="+mn-ea"/>
              </a:rPr>
              <a:t>“</a:t>
            </a:r>
            <a:r>
              <a:rPr lang="zh-CN" altLang="en-US" sz="1600" b="1">
                <a:sym typeface="+mn-ea"/>
              </a:rPr>
              <a:t>有品位</a:t>
            </a:r>
            <a:r>
              <a:rPr lang="en-US" altLang="zh-CN" sz="1600" b="1">
                <a:sym typeface="+mn-ea"/>
              </a:rPr>
              <a:t>”&gt;”</a:t>
            </a:r>
            <a:r>
              <a:rPr lang="zh-CN" altLang="en-US" sz="1600" b="1">
                <a:sym typeface="+mn-ea"/>
              </a:rPr>
              <a:t>露骨</a:t>
            </a:r>
            <a:r>
              <a:rPr lang="en-US" altLang="zh-CN" sz="1600" b="1">
                <a:sym typeface="+mn-ea"/>
              </a:rPr>
              <a:t>“</a:t>
            </a:r>
            <a:r>
              <a:rPr lang="zh-CN" altLang="en-US" sz="1600" b="1">
                <a:sym typeface="+mn-ea"/>
              </a:rPr>
              <a:t>。</a:t>
            </a:r>
            <a:r>
              <a:rPr lang="en-US" altLang="zh-CN" sz="1600" b="1">
                <a:sym typeface="+mn-ea"/>
              </a:rPr>
              <a:t> </a:t>
            </a:r>
            <a:r>
              <a:rPr lang="zh-CN" altLang="en-US" sz="1600" b="1">
                <a:sym typeface="+mn-ea"/>
              </a:rPr>
              <a:t>但是这个比例只占</a:t>
            </a:r>
            <a:r>
              <a:rPr lang="en-US" altLang="zh-CN" sz="1600" b="1">
                <a:sym typeface="+mn-ea"/>
              </a:rPr>
              <a:t>47%~53%</a:t>
            </a:r>
            <a:r>
              <a:rPr lang="zh-CN" altLang="en-US" sz="1600" b="1">
                <a:sym typeface="+mn-ea"/>
              </a:rPr>
              <a:t>，并未产生压倒性的偏向</a:t>
            </a:r>
            <a:r>
              <a:rPr lang="zh-CN" altLang="en-US" sz="1600">
                <a:sym typeface="+mn-ea"/>
              </a:rPr>
              <a:t>。中立和负面的影响明显。</a:t>
            </a:r>
            <a:endParaRPr lang="zh-CN" altLang="en-US" sz="16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9605" y="6562090"/>
            <a:ext cx="54762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i="1"/>
              <a:t>*</a:t>
            </a:r>
            <a:r>
              <a:rPr lang="zh-CN" altLang="en-US" sz="1200" i="1"/>
              <a:t>排除非目标用户</a:t>
            </a:r>
            <a:endParaRPr lang="zh-CN" altLang="en-US" sz="1200" i="1"/>
          </a:p>
        </p:txBody>
      </p:sp>
      <p:sp>
        <p:nvSpPr>
          <p:cNvPr id="3" name="文本占位符 2"/>
          <p:cNvSpPr/>
          <p:nvPr>
            <p:ph type="body" idx="16388"/>
            <p:custDataLst>
              <p:tags r:id="rId9"/>
            </p:custDataLst>
          </p:nvPr>
        </p:nvSpPr>
        <p:spPr>
          <a:xfrm>
            <a:off x="6248400" y="2265680"/>
            <a:ext cx="5333365" cy="783590"/>
          </a:xfrm>
        </p:spPr>
        <p:txBody>
          <a:bodyPr>
            <a:normAutofit fontScale="80000"/>
          </a:bodyPr>
          <a:p>
            <a:r>
              <a:rPr lang="en-US" altLang="zh-CN" sz="3200"/>
              <a:t>”</a:t>
            </a:r>
            <a:r>
              <a:rPr lang="zh-CN" altLang="en-US" sz="3200"/>
              <a:t>有品味</a:t>
            </a:r>
            <a:r>
              <a:rPr lang="en-US" altLang="zh-CN" sz="3200"/>
              <a:t>”&gt;“</a:t>
            </a:r>
            <a:r>
              <a:rPr lang="zh-CN" altLang="en-US" sz="3200"/>
              <a:t>露骨</a:t>
            </a:r>
            <a:r>
              <a:rPr lang="en-US" altLang="zh-CN" sz="3200"/>
              <a:t>”</a:t>
            </a:r>
            <a:r>
              <a:rPr lang="zh-CN" altLang="en-US" sz="3200"/>
              <a:t>，但优势并不大</a:t>
            </a:r>
            <a:endParaRPr lang="zh-CN" altLang="en-US" sz="3200"/>
          </a:p>
        </p:txBody>
      </p:sp>
      <p:sp>
        <p:nvSpPr>
          <p:cNvPr id="5" name="文本框 4"/>
          <p:cNvSpPr txBox="1"/>
          <p:nvPr/>
        </p:nvSpPr>
        <p:spPr>
          <a:xfrm>
            <a:off x="5943600" y="3261995"/>
            <a:ext cx="609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 i="1">
                <a:sym typeface="+mn-ea"/>
              </a:rPr>
              <a:t>Q2</a:t>
            </a:r>
            <a:r>
              <a:rPr lang="zh-CN" altLang="en-US" sz="1200" i="1">
                <a:sym typeface="+mn-ea"/>
              </a:rPr>
              <a:t>：作为一个性玩具</a:t>
            </a:r>
            <a:r>
              <a:rPr lang="en-US" altLang="zh-CN" sz="1200" i="1">
                <a:sym typeface="+mn-ea"/>
              </a:rPr>
              <a:t>/</a:t>
            </a:r>
            <a:r>
              <a:rPr lang="zh-CN" altLang="en-US" sz="1200" i="1">
                <a:sym typeface="+mn-ea"/>
              </a:rPr>
              <a:t>成人用品品牌的</a:t>
            </a:r>
            <a:r>
              <a:rPr lang="en-US" altLang="zh-CN" sz="1200" i="1">
                <a:sym typeface="+mn-ea"/>
              </a:rPr>
              <a:t>LOGO</a:t>
            </a:r>
            <a:r>
              <a:rPr lang="zh-CN" altLang="en-US" sz="1200" i="1">
                <a:sym typeface="+mn-ea"/>
              </a:rPr>
              <a:t>，你会如何描述它的视觉风格？（单选）</a:t>
            </a:r>
            <a:endParaRPr lang="zh-CN" altLang="en-US" sz="1200" i="1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9110" y="3283585"/>
            <a:ext cx="533336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 i="1">
                <a:sym typeface="+mn-ea"/>
              </a:rPr>
              <a:t>Q1: </a:t>
            </a:r>
            <a:r>
              <a:rPr lang="zh-CN" altLang="en-US" sz="1200" i="1">
                <a:sym typeface="+mn-ea"/>
              </a:rPr>
              <a:t>作为一个性玩具</a:t>
            </a:r>
            <a:r>
              <a:rPr lang="en-US" altLang="zh-CN" sz="1200" i="1">
                <a:sym typeface="+mn-ea"/>
              </a:rPr>
              <a:t>/</a:t>
            </a:r>
            <a:r>
              <a:rPr lang="zh-CN" altLang="en-US" sz="1200" i="1">
                <a:sym typeface="+mn-ea"/>
              </a:rPr>
              <a:t>成人用品品牌，这个</a:t>
            </a:r>
            <a:r>
              <a:rPr lang="en-US" altLang="zh-CN" sz="1200" i="1">
                <a:sym typeface="+mn-ea"/>
              </a:rPr>
              <a:t>LOGO</a:t>
            </a:r>
            <a:r>
              <a:rPr lang="zh-CN" altLang="en-US" sz="1200" i="1">
                <a:sym typeface="+mn-ea"/>
              </a:rPr>
              <a:t>给你带来什么样的第一感受？</a:t>
            </a:r>
            <a:endParaRPr lang="zh-CN" altLang="en-US" sz="1200" i="1">
              <a:sym typeface="+mn-ea"/>
            </a:endParaRPr>
          </a:p>
        </p:txBody>
      </p:sp>
      <p:graphicFrame>
        <p:nvGraphicFramePr>
          <p:cNvPr id="10" name="图表 9"/>
          <p:cNvGraphicFramePr/>
          <p:nvPr/>
        </p:nvGraphicFramePr>
        <p:xfrm>
          <a:off x="6248400" y="3618865"/>
          <a:ext cx="5334635" cy="3142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11" name="图片 10" descr="Q1wordcloud"/>
          <p:cNvPicPr>
            <a:picLocks noChangeAspect="1"/>
          </p:cNvPicPr>
          <p:nvPr/>
        </p:nvPicPr>
        <p:blipFill>
          <a:blip r:embed="rId10"/>
          <a:srcRect l="20318" r="16693"/>
          <a:stretch>
            <a:fillRect/>
          </a:stretch>
        </p:blipFill>
        <p:spPr>
          <a:xfrm>
            <a:off x="829945" y="4192270"/>
            <a:ext cx="4671060" cy="232981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0" y="70"/>
            <a:ext cx="10969200" cy="705600"/>
          </a:xfrm>
        </p:spPr>
        <p:txBody>
          <a:bodyPr>
            <a:noAutofit/>
          </a:bodyPr>
          <a:p>
            <a:r>
              <a:rPr lang="zh-CN" altLang="en-US" sz="3200"/>
              <a:t>定性分析：用户对</a:t>
            </a:r>
            <a:r>
              <a:rPr lang="en-US" altLang="zh-CN" sz="3200"/>
              <a:t>LOGO</a:t>
            </a:r>
            <a:r>
              <a:rPr lang="zh-CN" altLang="en-US" sz="3200"/>
              <a:t>的评价</a:t>
            </a:r>
            <a:r>
              <a:rPr lang="en-US" altLang="zh-CN" sz="3200"/>
              <a:t>&amp;</a:t>
            </a:r>
            <a:r>
              <a:rPr lang="zh-CN" altLang="en-US" sz="3200"/>
              <a:t>顾虑</a:t>
            </a:r>
            <a:endParaRPr lang="zh-CN" altLang="en-US" sz="3200"/>
          </a:p>
        </p:txBody>
      </p:sp>
      <p:sp>
        <p:nvSpPr>
          <p:cNvPr id="12" name="文本框 11"/>
          <p:cNvSpPr txBox="1"/>
          <p:nvPr/>
        </p:nvSpPr>
        <p:spPr>
          <a:xfrm>
            <a:off x="0" y="6300470"/>
            <a:ext cx="59296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i="1"/>
              <a:t>*</a:t>
            </a:r>
            <a:r>
              <a:rPr lang="zh-CN" altLang="en-US" sz="1200" i="1"/>
              <a:t>排除非目标用户</a:t>
            </a:r>
            <a:endParaRPr lang="zh-CN" altLang="en-US" sz="1200" i="1"/>
          </a:p>
          <a:p>
            <a:r>
              <a:rPr lang="en-US" altLang="zh-CN" sz="1200" i="1"/>
              <a:t>Q1: </a:t>
            </a:r>
            <a:r>
              <a:rPr lang="zh-CN" altLang="en-US" sz="1200" i="1"/>
              <a:t>作为</a:t>
            </a:r>
            <a:r>
              <a:rPr lang="zh-CN" altLang="en-US" sz="1200" i="1"/>
              <a:t>一个性玩具</a:t>
            </a:r>
            <a:r>
              <a:rPr lang="en-US" altLang="zh-CN" sz="1200" i="1"/>
              <a:t>/</a:t>
            </a:r>
            <a:r>
              <a:rPr lang="zh-CN" altLang="en-US" sz="1200" i="1"/>
              <a:t>成人用品品牌，这个</a:t>
            </a:r>
            <a:r>
              <a:rPr lang="en-US" altLang="zh-CN" sz="1200" i="1"/>
              <a:t>LOGO</a:t>
            </a:r>
            <a:r>
              <a:rPr lang="zh-CN" altLang="en-US" sz="1200" i="1"/>
              <a:t>给你带来什么样的第一感受？</a:t>
            </a:r>
            <a:endParaRPr lang="zh-CN" altLang="en-US" sz="1200" i="1"/>
          </a:p>
        </p:txBody>
      </p:sp>
      <p:sp>
        <p:nvSpPr>
          <p:cNvPr id="25" name="文本框 24"/>
          <p:cNvSpPr txBox="1"/>
          <p:nvPr/>
        </p:nvSpPr>
        <p:spPr>
          <a:xfrm>
            <a:off x="4552950" y="682625"/>
            <a:ext cx="7411720" cy="5796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6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女性健康指向强，可能局限品类认知。</a:t>
            </a:r>
            <a:r>
              <a:rPr lang="en-US" altLang="zh-CN" sz="16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”female/woman </a:t>
            </a:r>
            <a:r>
              <a:rPr lang="zh-CN" altLang="en-US" sz="16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女性</a:t>
            </a:r>
            <a:r>
              <a:rPr lang="en-US" altLang="zh-CN" sz="16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“</a:t>
            </a:r>
            <a:r>
              <a:rPr lang="zh-CN" altLang="en-US" sz="16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被高频提及</a:t>
            </a:r>
            <a:r>
              <a:rPr lang="en-US" altLang="zh-CN" sz="16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14/83</a:t>
            </a:r>
            <a:r>
              <a:rPr lang="zh-CN" altLang="en-US" sz="16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。</a:t>
            </a:r>
            <a:endParaRPr lang="en-US" altLang="zh-CN" sz="1600" i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200" i="1"/>
              <a:t>“</a:t>
            </a:r>
            <a:r>
              <a:rPr lang="zh-CN" altLang="en-US" sz="1200" i="1"/>
              <a:t>我首先想到的感官体验是它象征着</a:t>
            </a:r>
            <a:r>
              <a:rPr lang="zh-CN" altLang="en-US" sz="1200" b="1" i="1"/>
              <a:t>女性的生殖器</a:t>
            </a:r>
            <a:r>
              <a:rPr lang="zh-CN" altLang="en-US" sz="1200" i="1"/>
              <a:t>。这告诉我，一切都是为了满足</a:t>
            </a:r>
            <a:r>
              <a:rPr lang="zh-CN" altLang="en-US" sz="1200" b="1" i="1"/>
              <a:t>女性的需求</a:t>
            </a:r>
            <a:r>
              <a:rPr lang="zh-CN" altLang="en-US" sz="1200" i="1"/>
              <a:t>。我认为这个品牌整体来说非常好，因为它在</a:t>
            </a:r>
            <a:r>
              <a:rPr lang="zh-CN" altLang="en-US" sz="1200" b="1" i="1"/>
              <a:t>不带任何刻板印象</a:t>
            </a:r>
            <a:r>
              <a:rPr lang="zh-CN" altLang="en-US" sz="1200" i="1"/>
              <a:t>的情况下，倡导女性的性健康。</a:t>
            </a:r>
            <a:r>
              <a:rPr lang="en-US" altLang="zh-CN" sz="1600" i="1"/>
              <a:t>”</a:t>
            </a:r>
            <a:endParaRPr lang="en-US" altLang="zh-CN" sz="1600" i="1"/>
          </a:p>
          <a:p>
            <a:pPr marL="742950" lvl="1" indent="-285750">
              <a:buFont typeface="Wingdings" panose="05000000000000000000" charset="0"/>
              <a:buChar char="Ø"/>
            </a:pPr>
            <a:endParaRPr lang="en-US" altLang="zh-CN" sz="1600" i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600" b="1"/>
              <a:t>用户对设计外观的直观识别存在显著差异，对看不懂的用户造成困扰，让低调用户反感。</a:t>
            </a:r>
            <a:endParaRPr lang="zh-CN" altLang="en-US" sz="1600" b="1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zh-CN" sz="1600" b="1"/>
          </a:p>
          <a:p>
            <a:pPr indent="0">
              <a:buFont typeface="Wingdings" panose="05000000000000000000" charset="0"/>
              <a:buNone/>
            </a:pPr>
            <a:r>
              <a:rPr lang="en-US" altLang="zh-CN" sz="1600" b="1"/>
              <a:t>1)</a:t>
            </a:r>
            <a:r>
              <a:rPr lang="zh-CN" altLang="en-US" sz="1600" b="1"/>
              <a:t>用户识别为器官：形象直观，可能挑战刻板印象固化的人群</a:t>
            </a:r>
            <a:r>
              <a:rPr lang="en-US" altLang="zh-CN" sz="1600" b="1"/>
              <a:t>/</a:t>
            </a:r>
            <a:r>
              <a:rPr lang="zh-CN" altLang="en-US" sz="1600" b="1">
                <a:sym typeface="+mn-ea"/>
              </a:rPr>
              <a:t>让低调用户反感。</a:t>
            </a:r>
            <a:r>
              <a:rPr lang="en-US" altLang="zh-CN" sz="1600">
                <a:effectLst/>
                <a:sym typeface="+mn-ea"/>
              </a:rPr>
              <a:t>butt,body,suppose</a:t>
            </a:r>
            <a:r>
              <a:rPr lang="zh-CN" altLang="en-US" sz="1600">
                <a:effectLst/>
                <a:sym typeface="+mn-ea"/>
              </a:rPr>
              <a:t>被高频提及</a:t>
            </a:r>
            <a:r>
              <a:rPr lang="en-US" altLang="zh-CN" sz="1600"/>
              <a:t> 9/83</a:t>
            </a:r>
            <a:endParaRPr lang="zh-CN" altLang="en-US" sz="16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200" i="1"/>
              <a:t>“</a:t>
            </a:r>
            <a:r>
              <a:rPr lang="zh-CN" altLang="en-US" sz="1200" i="1"/>
              <a:t>它看起来像肛门。在看到说明前，我就看得出它和性有关。</a:t>
            </a:r>
            <a:r>
              <a:rPr lang="en-US" altLang="zh-CN" sz="1200" i="1"/>
              <a:t>”</a:t>
            </a:r>
            <a:endParaRPr lang="zh-CN" altLang="en-US" sz="1200" i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200" i="1"/>
              <a:t>“</a:t>
            </a:r>
            <a:r>
              <a:rPr lang="zh-CN" altLang="en-US" sz="1200" i="1"/>
              <a:t>我完全不喜欢这个</a:t>
            </a:r>
            <a:r>
              <a:rPr lang="en-US" altLang="zh-CN" sz="1200" i="1"/>
              <a:t> logo</a:t>
            </a:r>
            <a:r>
              <a:rPr lang="zh-CN" altLang="en-US" sz="1200" i="1"/>
              <a:t>，因为它让我感到</a:t>
            </a:r>
            <a:r>
              <a:rPr lang="zh-CN" altLang="en-US" sz="1200" b="1" i="1"/>
              <a:t>很不舒服</a:t>
            </a:r>
            <a:r>
              <a:rPr lang="zh-CN" altLang="en-US" sz="1200" i="1"/>
              <a:t>。它看起来像人体解剖部位，像臀部，而且黑白对比把它</a:t>
            </a:r>
            <a:r>
              <a:rPr lang="zh-CN" altLang="en-US" sz="1200" b="1" i="1"/>
              <a:t>特别</a:t>
            </a:r>
            <a:r>
              <a:rPr lang="zh-CN" altLang="en-US" sz="1200" i="1"/>
              <a:t>突出了。这让我觉得这是一家</a:t>
            </a:r>
            <a:r>
              <a:rPr lang="zh-CN" altLang="en-US" sz="1200" b="1" i="1"/>
              <a:t>品味很差</a:t>
            </a:r>
            <a:r>
              <a:rPr lang="zh-CN" altLang="en-US" sz="1200" i="1"/>
              <a:t>的公司，风格也完全不适合我。</a:t>
            </a:r>
            <a:r>
              <a:rPr lang="en-US" altLang="zh-CN" sz="1600" i="1"/>
              <a:t>”</a:t>
            </a:r>
            <a:endParaRPr lang="en-US" altLang="zh-CN" sz="1600" i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200" i="1"/>
              <a:t>“</a:t>
            </a:r>
            <a:r>
              <a:rPr lang="zh-CN" altLang="en-US" sz="1200" b="1" i="1"/>
              <a:t>绝对不性感</a:t>
            </a:r>
            <a:r>
              <a:rPr lang="zh-CN" altLang="en-US" sz="1200" i="1"/>
              <a:t>，除非你特别喜欢屁股，或者这是肛塞类产品。”</a:t>
            </a:r>
            <a:endParaRPr lang="zh-CN" altLang="en-US" sz="1200" i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200" i="1"/>
              <a:t>“</a:t>
            </a:r>
            <a:r>
              <a:rPr lang="zh-CN" altLang="en-US" sz="1200" i="1">
                <a:sym typeface="+mn-ea"/>
              </a:rPr>
              <a:t>知道是情趣用品后，底部向内弯曲的部分总觉得</a:t>
            </a:r>
            <a:r>
              <a:rPr lang="zh-CN" altLang="en-US" sz="1200" b="1" i="1">
                <a:sym typeface="+mn-ea"/>
              </a:rPr>
              <a:t>有点不太合适</a:t>
            </a:r>
            <a:r>
              <a:rPr lang="zh-CN" altLang="en-US" sz="1200" i="1">
                <a:sym typeface="+mn-ea"/>
              </a:rPr>
              <a:t>。</a:t>
            </a:r>
            <a:r>
              <a:rPr lang="en-US" altLang="zh-CN" sz="1200" i="1">
                <a:sym typeface="+mn-ea"/>
              </a:rPr>
              <a:t>”</a:t>
            </a:r>
            <a:endParaRPr lang="zh-CN" altLang="en-US" sz="1200" i="1"/>
          </a:p>
          <a:p>
            <a:pPr indent="0">
              <a:buFont typeface="Wingdings" panose="05000000000000000000" charset="0"/>
              <a:buNone/>
            </a:pPr>
            <a:r>
              <a:rPr lang="en-US" altLang="zh-CN" sz="1600" b="1"/>
              <a:t>2)</a:t>
            </a:r>
            <a:r>
              <a:rPr lang="zh-CN" altLang="en-US" sz="1600" b="1"/>
              <a:t>用户看不懂图形的意图，认为品类关联度低。</a:t>
            </a:r>
            <a:r>
              <a:rPr lang="en-US" altLang="zh-CN" sz="1600"/>
              <a:t> 15/83</a:t>
            </a:r>
            <a:endParaRPr lang="zh-CN" altLang="en-US" sz="16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200" i="1"/>
              <a:t>“</a:t>
            </a:r>
            <a:r>
              <a:rPr lang="zh-CN" altLang="en-US" sz="1200" i="1"/>
              <a:t>我觉得这个标志很有创意，但我不太确定</a:t>
            </a:r>
            <a:r>
              <a:rPr lang="zh-CN" altLang="en-US" sz="1200" b="1" i="1"/>
              <a:t>它想表达什么</a:t>
            </a:r>
            <a:r>
              <a:rPr lang="zh-CN" altLang="en-US" sz="1200" i="1"/>
              <a:t>。</a:t>
            </a:r>
            <a:r>
              <a:rPr lang="en-US" altLang="zh-CN" sz="1200" i="1"/>
              <a:t>”</a:t>
            </a:r>
            <a:endParaRPr lang="en-US" altLang="zh-CN" sz="1200" i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200" i="1"/>
              <a:t>“</a:t>
            </a:r>
            <a:r>
              <a:rPr lang="zh-CN" altLang="en-US" sz="1200" i="1"/>
              <a:t>看起来像一个可爱的、正在拥抱的小人。要么外轮廓是个胖胖的外星生物张开手臂，要么里面细的部分是人形身体张开手臂、上面是头。不管怎样都有点可爱、好记，虽然我</a:t>
            </a:r>
            <a:r>
              <a:rPr lang="zh-CN" altLang="en-US" sz="1200" b="1" i="1"/>
              <a:t>不确定它是否特别适合情趣用品</a:t>
            </a:r>
            <a:r>
              <a:rPr lang="zh-CN" altLang="en-US" sz="1200" i="1"/>
              <a:t>。</a:t>
            </a:r>
            <a:r>
              <a:rPr lang="en-US" altLang="zh-CN" sz="1200" i="1"/>
              <a:t>”</a:t>
            </a:r>
            <a:endParaRPr lang="zh-CN" altLang="en-US" sz="1200" i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200" i="1"/>
              <a:t>“</a:t>
            </a:r>
            <a:r>
              <a:rPr lang="zh-CN" altLang="en-US" sz="1200" i="1"/>
              <a:t>我的第一反应是，这看起来真的很有趣。我觉得它很独特，但我</a:t>
            </a:r>
            <a:r>
              <a:rPr lang="zh-CN" altLang="en-US" sz="1200" b="1" i="1"/>
              <a:t>还在思考</a:t>
            </a:r>
            <a:r>
              <a:rPr lang="zh-CN" altLang="en-US" sz="1200" i="1"/>
              <a:t>我的完整想法，因为它甚至看起来</a:t>
            </a:r>
            <a:r>
              <a:rPr lang="zh-CN" altLang="en-US" sz="1200" b="1" i="1"/>
              <a:t>有点怪异</a:t>
            </a:r>
            <a:r>
              <a:rPr lang="zh-CN" altLang="en-US" sz="1200" i="1"/>
              <a:t>。</a:t>
            </a:r>
            <a:r>
              <a:rPr lang="en-US" altLang="zh-CN" sz="1200" i="1"/>
              <a:t>”</a:t>
            </a:r>
            <a:endParaRPr lang="en-US" altLang="zh-CN" sz="1200" i="1"/>
          </a:p>
          <a:p>
            <a:pPr marL="742950" lvl="1" indent="-285750">
              <a:buFont typeface="Wingdings" panose="05000000000000000000" charset="0"/>
              <a:buChar char="Ø"/>
            </a:pPr>
            <a:r>
              <a:rPr lang="en-US" altLang="zh-CN" sz="1200" i="1"/>
              <a:t>“</a:t>
            </a:r>
            <a:r>
              <a:rPr lang="zh-CN" altLang="en-US" sz="1200" i="1"/>
              <a:t>我觉得它</a:t>
            </a:r>
            <a:r>
              <a:rPr lang="zh-CN" altLang="en-US" sz="1200" b="1" i="1"/>
              <a:t>不像是一个性健康品牌</a:t>
            </a:r>
            <a:r>
              <a:rPr lang="zh-CN" altLang="en-US" sz="1200" i="1"/>
              <a:t>，反而显得很卡通化。</a:t>
            </a:r>
            <a:r>
              <a:rPr lang="en-US" altLang="zh-CN" sz="1200" i="1"/>
              <a:t>”</a:t>
            </a:r>
            <a:endParaRPr lang="en-US" altLang="zh-CN" sz="1200" i="1"/>
          </a:p>
          <a:p>
            <a:pPr lvl="0" indent="0">
              <a:buFont typeface="Wingdings" panose="05000000000000000000" charset="0"/>
              <a:buNone/>
            </a:pPr>
            <a:r>
              <a:rPr lang="en-US" altLang="zh-CN" sz="1600" b="1">
                <a:sym typeface="+mn-ea"/>
              </a:rPr>
              <a:t>3)</a:t>
            </a:r>
            <a:r>
              <a:rPr lang="zh-CN" altLang="en-US" sz="1600" b="1">
                <a:sym typeface="+mn-ea"/>
              </a:rPr>
              <a:t>用户识别字母：少部分认为像</a:t>
            </a:r>
            <a:r>
              <a:rPr lang="en-US" altLang="zh-CN" sz="1600" b="1">
                <a:sym typeface="+mn-ea"/>
              </a:rPr>
              <a:t> “</a:t>
            </a:r>
            <a:r>
              <a:rPr lang="zh-CN" altLang="en-US" sz="1600" b="1">
                <a:sym typeface="+mn-ea"/>
              </a:rPr>
              <a:t>字母</a:t>
            </a:r>
            <a:r>
              <a:rPr lang="en-US" altLang="zh-CN" sz="1600" b="1">
                <a:sym typeface="+mn-ea"/>
              </a:rPr>
              <a:t> A”. 4/83</a:t>
            </a:r>
            <a:endParaRPr lang="en-US" altLang="zh-CN" sz="1600" b="1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200" i="1"/>
              <a:t>“</a:t>
            </a:r>
            <a:r>
              <a:rPr lang="zh-CN" altLang="en-US" sz="1200" i="1"/>
              <a:t>说实话我之前根本不知道。这居然是情趣用品，我还以为是字母 A。</a:t>
            </a:r>
            <a:r>
              <a:rPr lang="en-US" altLang="zh-CN" sz="1200" i="1"/>
              <a:t>”</a:t>
            </a:r>
            <a:endParaRPr lang="zh-CN" altLang="en-US" sz="1200" i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200" i="1"/>
              <a:t>“</a:t>
            </a:r>
            <a:r>
              <a:rPr lang="zh-CN" altLang="en-US" sz="1200" i="1"/>
              <a:t>它看起来就是造型不一样的字母 A。我更喜欢带黑色阴影的那个版本。</a:t>
            </a:r>
            <a:endParaRPr lang="zh-CN" altLang="en-US" sz="1200" i="1"/>
          </a:p>
          <a:p>
            <a:pPr marL="742950" lvl="1" indent="-285750">
              <a:buFont typeface="Wingdings" panose="05000000000000000000" charset="0"/>
              <a:buChar char="Ø"/>
            </a:pPr>
            <a:endParaRPr lang="zh-CN" altLang="en-US" sz="1200" i="1"/>
          </a:p>
          <a:p>
            <a:pPr lvl="0" indent="0">
              <a:buFont typeface="Wingdings" panose="05000000000000000000" charset="0"/>
              <a:buNone/>
            </a:pPr>
            <a:endParaRPr lang="zh-CN" altLang="en-US" sz="1600" b="1"/>
          </a:p>
        </p:txBody>
      </p:sp>
      <p:pic>
        <p:nvPicPr>
          <p:cNvPr id="26" name="图片 25" descr="企业微信截图_1770281489678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5" y="619125"/>
            <a:ext cx="2482850" cy="132334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111125" y="3696335"/>
            <a:ext cx="3903980" cy="2459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i="1">
                <a:sym typeface="+mn-ea"/>
              </a:rPr>
              <a:t>“</a:t>
            </a:r>
            <a:r>
              <a:rPr lang="zh-CN" altLang="en-US" sz="1400" i="1">
                <a:sym typeface="+mn-ea"/>
              </a:rPr>
              <a:t>它</a:t>
            </a:r>
            <a:r>
              <a:rPr lang="zh-CN" altLang="en-US" sz="1400" b="1" i="1">
                <a:sym typeface="+mn-ea"/>
              </a:rPr>
              <a:t>设计简洁却不失巧妙</a:t>
            </a:r>
            <a:r>
              <a:rPr lang="zh-CN" altLang="en-US" sz="1400" i="1">
                <a:sym typeface="+mn-ea"/>
              </a:rPr>
              <a:t>，所以我认为它还算有品味。它算不上天才之作，但真正天才的标志设计也寥寥无几。</a:t>
            </a:r>
            <a:r>
              <a:rPr lang="en-US" altLang="zh-CN" sz="1400" i="1">
                <a:sym typeface="+mn-ea"/>
              </a:rPr>
              <a:t>”</a:t>
            </a:r>
            <a:endParaRPr lang="en-US" altLang="zh-CN" sz="1400" i="1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i="1">
                <a:sym typeface="+mn-ea"/>
              </a:rPr>
              <a:t>“</a:t>
            </a:r>
            <a:r>
              <a:rPr lang="zh-CN" altLang="en-US" sz="1400" i="1"/>
              <a:t>如果</a:t>
            </a:r>
            <a:r>
              <a:rPr lang="en-US" altLang="zh-CN" sz="1400" i="1"/>
              <a:t> </a:t>
            </a:r>
            <a:r>
              <a:rPr lang="zh-CN" sz="1400" i="1"/>
              <a:t>往</a:t>
            </a:r>
            <a:r>
              <a:rPr lang="zh-CN" altLang="en-US" sz="1400" i="1"/>
              <a:t>专业方面想，我会把它看作是在</a:t>
            </a:r>
            <a:r>
              <a:rPr lang="zh-CN" altLang="en-US" sz="1400" b="1" i="1"/>
              <a:t>推动关于性与自我关爱的健康对话。</a:t>
            </a:r>
            <a:r>
              <a:rPr lang="en-US" altLang="zh-CN" sz="1400" i="1"/>
              <a:t>”</a:t>
            </a:r>
            <a:endParaRPr lang="en-US" altLang="zh-CN" sz="1400" i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i="1"/>
              <a:t>“</a:t>
            </a:r>
            <a:r>
              <a:rPr lang="zh-CN" altLang="en-US" sz="1400" i="1"/>
              <a:t>我觉得这个</a:t>
            </a:r>
            <a:r>
              <a:rPr lang="en-US" altLang="zh-CN" sz="1400" i="1"/>
              <a:t> logo </a:t>
            </a:r>
            <a:r>
              <a:rPr lang="zh-CN" altLang="en-US" sz="1400" i="1"/>
              <a:t>很吸引人、很有意思，黑白配色，也体现出</a:t>
            </a:r>
            <a:r>
              <a:rPr lang="zh-CN" altLang="en-US" sz="1400" b="1" i="1"/>
              <a:t>女性也可以为自己、为情趣内容获得快乐。</a:t>
            </a:r>
            <a:r>
              <a:rPr lang="en-US" altLang="zh-CN" sz="1400" i="1"/>
              <a:t>”</a:t>
            </a:r>
            <a:endParaRPr lang="en-US" altLang="zh-CN" sz="1400" i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i="1"/>
              <a:t>“</a:t>
            </a:r>
            <a:r>
              <a:rPr lang="zh-CN" altLang="en-US" sz="1400" i="1"/>
              <a:t>在看说明之前，我觉得它有点色色的，但考虑到产品类型，这反而很</a:t>
            </a:r>
            <a:r>
              <a:rPr lang="zh-CN" altLang="en-US" sz="1400" b="1" i="1"/>
              <a:t>贴切</a:t>
            </a:r>
            <a:r>
              <a:rPr lang="zh-CN" altLang="en-US" sz="1400" i="1"/>
              <a:t>。</a:t>
            </a:r>
            <a:r>
              <a:rPr lang="en-US" altLang="zh-CN" sz="1400" i="1"/>
              <a:t>”</a:t>
            </a:r>
            <a:endParaRPr lang="zh-CN" altLang="en-US" sz="1400" i="1"/>
          </a:p>
          <a:p>
            <a:endParaRPr lang="zh-CN" altLang="en-US" sz="1400" i="1"/>
          </a:p>
        </p:txBody>
      </p:sp>
      <p:sp>
        <p:nvSpPr>
          <p:cNvPr id="28" name="文本框 27"/>
          <p:cNvSpPr txBox="1"/>
          <p:nvPr/>
        </p:nvSpPr>
        <p:spPr>
          <a:xfrm>
            <a:off x="111125" y="3334385"/>
            <a:ext cx="43605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优点：巧妙独特，有贴切的性价值体现</a:t>
            </a:r>
            <a:r>
              <a:rPr lang="en-US" altLang="zh-CN" sz="1600" b="1"/>
              <a:t> 11/83 </a:t>
            </a:r>
            <a:endParaRPr lang="en-US" altLang="zh-CN" sz="1600" b="1"/>
          </a:p>
        </p:txBody>
      </p:sp>
      <p:pic>
        <p:nvPicPr>
          <p:cNvPr id="29" name="图片 28" descr="Q1wordcloud"/>
          <p:cNvPicPr>
            <a:picLocks noChangeAspect="1"/>
          </p:cNvPicPr>
          <p:nvPr/>
        </p:nvPicPr>
        <p:blipFill>
          <a:blip r:embed="rId3"/>
          <a:srcRect l="20318" r="26772" b="6187"/>
          <a:stretch>
            <a:fillRect/>
          </a:stretch>
        </p:blipFill>
        <p:spPr>
          <a:xfrm>
            <a:off x="1700530" y="1866900"/>
            <a:ext cx="2160905" cy="12039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pPr algn="l"/>
            <a:r>
              <a:rPr lang="zh-CN" altLang="en-US"/>
              <a:t>性别影响因素</a:t>
            </a:r>
            <a:endParaRPr lang="zh-CN" altLang="en-US"/>
          </a:p>
        </p:txBody>
      </p:sp>
      <p:sp>
        <p:nvSpPr>
          <p:cNvPr id="11" name="装饰  6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>
          <a:xfrm>
            <a:off x="609600" y="1524000"/>
            <a:ext cx="4897755" cy="36576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720090" y="1687195"/>
            <a:ext cx="4345940" cy="328295"/>
          </a:xfrm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400"/>
              <a:t>性别显著的影响了用户对</a:t>
            </a:r>
            <a:r>
              <a:rPr lang="en-US" altLang="zh-CN" sz="1400"/>
              <a:t>LOGO</a:t>
            </a:r>
            <a:r>
              <a:rPr lang="zh-CN" altLang="en-US" sz="1400"/>
              <a:t>的风格态度。</a:t>
            </a:r>
            <a:endParaRPr lang="zh-CN" altLang="en-US" sz="1400"/>
          </a:p>
          <a:p>
            <a:pPr>
              <a:buFont typeface="Arial" panose="020B0604020202020204" pitchFamily="34" charset="0"/>
            </a:pPr>
            <a:endParaRPr lang="zh-CN" altLang="en-US" sz="1400"/>
          </a:p>
          <a:p>
            <a:endParaRPr lang="zh-CN" altLang="en-US" sz="1400"/>
          </a:p>
        </p:txBody>
      </p:sp>
      <p:sp>
        <p:nvSpPr>
          <p:cNvPr id="14" name="装饰  9"/>
          <p:cNvSpPr>
            <a:spLocks noGrp="1"/>
          </p:cNvSpPr>
          <p:nvPr>
            <p:ph type="body" idx="16394"/>
            <p:custDataLst>
              <p:tags r:id="rId4"/>
            </p:custDataLst>
          </p:nvPr>
        </p:nvSpPr>
        <p:spPr>
          <a:xfrm>
            <a:off x="5801995" y="1524000"/>
            <a:ext cx="5910580" cy="36576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>
          <a:xfrm>
            <a:off x="5919470" y="1687195"/>
            <a:ext cx="5793105" cy="406400"/>
          </a:xfrm>
        </p:spPr>
        <p:txBody>
          <a:bodyPr>
            <a:noAutofit/>
          </a:bodyPr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1400" b="1"/>
              <a:t>OR&gt;1</a:t>
            </a:r>
            <a:r>
              <a:rPr lang="zh-CN" altLang="en-US" sz="1400" b="1"/>
              <a:t>且</a:t>
            </a:r>
            <a:r>
              <a:rPr lang="en-US" altLang="zh-CN" sz="1400" b="1"/>
              <a:t>P&lt;0.05</a:t>
            </a:r>
            <a:r>
              <a:rPr lang="zh-CN" altLang="en-US" sz="1400" b="1"/>
              <a:t>，</a:t>
            </a:r>
            <a:r>
              <a:rPr lang="en-US" altLang="zh-CN" sz="1400" b="1"/>
              <a:t> </a:t>
            </a:r>
            <a:r>
              <a:rPr lang="zh-CN" altLang="en-US" sz="1400" b="1"/>
              <a:t>女性更有可能选择</a:t>
            </a:r>
            <a:r>
              <a:rPr lang="en-US" altLang="zh-CN" sz="1400" b="1"/>
              <a:t>C- </a:t>
            </a:r>
            <a:r>
              <a:rPr lang="zh-CN" altLang="en-US" sz="1400" b="1"/>
              <a:t>中立，无明显情绪倾向。</a:t>
            </a:r>
            <a:endParaRPr lang="zh-CN" altLang="en-US" sz="1400" b="1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zh-CN" altLang="en-US" sz="1400" b="1"/>
          </a:p>
        </p:txBody>
      </p:sp>
      <p:pic>
        <p:nvPicPr>
          <p:cNvPr id="4" name="内容占位符 3"/>
          <p:cNvPicPr>
            <a:picLocks noChangeAspect="1"/>
          </p:cNvPicPr>
          <p:nvPr>
            <p:ph idx="4294967295"/>
            <p:custDataLst>
              <p:tags r:id="rId6"/>
            </p:custDataLst>
          </p:nvPr>
        </p:nvPicPr>
        <p:blipFill>
          <a:blip r:embed="rId7"/>
          <a:srcRect r="21701" b="-320"/>
          <a:stretch>
            <a:fillRect/>
          </a:stretch>
        </p:blipFill>
        <p:spPr>
          <a:xfrm>
            <a:off x="885190" y="2647950"/>
            <a:ext cx="4345940" cy="238633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8"/>
          <a:stretch>
            <a:fillRect/>
          </a:stretch>
        </p:blipFill>
        <p:spPr>
          <a:xfrm>
            <a:off x="6875145" y="2218690"/>
            <a:ext cx="4636770" cy="281559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37210" y="5523865"/>
            <a:ext cx="11045190" cy="1054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>
              <a:buFont typeface="Arial" panose="020B0604020202020204" pitchFamily="34" charset="0"/>
              <a:buChar char="•"/>
            </a:pPr>
            <a:endParaRPr lang="zh-CN" altLang="en-US" sz="1600"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600" b="1">
                <a:sym typeface="+mn-ea"/>
              </a:rPr>
              <a:t>女性更有可能对这个</a:t>
            </a:r>
            <a:r>
              <a:rPr lang="en-US" altLang="zh-CN" sz="1600" b="1">
                <a:sym typeface="+mn-ea"/>
              </a:rPr>
              <a:t>LOGO</a:t>
            </a:r>
            <a:r>
              <a:rPr lang="zh-CN" altLang="en-US" sz="1600" b="1">
                <a:sym typeface="+mn-ea"/>
              </a:rPr>
              <a:t>产生中立态度</a:t>
            </a:r>
            <a:r>
              <a:rPr lang="zh-CN" altLang="en-US" sz="1600">
                <a:sym typeface="+mn-ea"/>
              </a:rPr>
              <a:t>，意味着如果品牌面向女性用户并且放大</a:t>
            </a:r>
            <a:r>
              <a:rPr lang="en-US" altLang="zh-CN" sz="1600">
                <a:sym typeface="+mn-ea"/>
              </a:rPr>
              <a:t>LOGO</a:t>
            </a:r>
            <a:r>
              <a:rPr lang="zh-CN" altLang="en-US" sz="1600">
                <a:sym typeface="+mn-ea"/>
              </a:rPr>
              <a:t>的露出，较大可能会带来中立无明显情绪倾向的结果，可能和预期的积极影响相反。</a:t>
            </a:r>
            <a:endParaRPr lang="zh-CN" altLang="en-US" sz="1600"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483610" y="4651375"/>
            <a:ext cx="932180" cy="17081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20090" y="2407920"/>
            <a:ext cx="1137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N=99</a:t>
            </a:r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918835" y="2155190"/>
            <a:ext cx="1137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N=99</a:t>
            </a:r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有品位还是露骨？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>
          <a:xfrm>
            <a:off x="914400" y="2870200"/>
            <a:ext cx="2844800" cy="1945005"/>
          </a:xfrm>
        </p:spPr>
        <p:txBody>
          <a:bodyPr/>
          <a:p>
            <a:pPr algn="l"/>
            <a:r>
              <a:rPr lang="zh-CN" altLang="en-US"/>
              <a:t>用户的态度是认为</a:t>
            </a:r>
            <a:r>
              <a:rPr lang="en-US" altLang="zh-CN"/>
              <a:t>“</a:t>
            </a:r>
            <a:r>
              <a:rPr lang="zh-CN" altLang="en-US"/>
              <a:t>有品位</a:t>
            </a:r>
            <a:r>
              <a:rPr lang="en-US" altLang="zh-CN"/>
              <a:t>”&gt;”</a:t>
            </a:r>
            <a:r>
              <a:rPr lang="zh-CN" altLang="en-US"/>
              <a:t>露骨</a:t>
            </a:r>
            <a:r>
              <a:rPr lang="en-US" altLang="zh-CN"/>
              <a:t>“</a:t>
            </a:r>
            <a:r>
              <a:rPr lang="zh-CN" altLang="en-US"/>
              <a:t>。</a:t>
            </a:r>
            <a:r>
              <a:rPr lang="en-US" altLang="zh-CN"/>
              <a:t> </a:t>
            </a:r>
            <a:r>
              <a:rPr lang="zh-CN" altLang="en-US"/>
              <a:t>但是这个比例只占</a:t>
            </a:r>
            <a:r>
              <a:rPr lang="en-US" altLang="zh-CN"/>
              <a:t>47%~53%</a:t>
            </a:r>
            <a:r>
              <a:rPr lang="zh-CN" altLang="en-US"/>
              <a:t>。</a:t>
            </a:r>
            <a:r>
              <a:rPr lang="zh-CN" altLang="en-US"/>
              <a:t>不足</a:t>
            </a:r>
            <a:r>
              <a:rPr lang="en-US" altLang="zh-CN"/>
              <a:t>60%</a:t>
            </a:r>
            <a:r>
              <a:rPr lang="zh-CN" altLang="en-US"/>
              <a:t>，并未产生压倒性的偏向。中立和负面的影响仍然明显。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94"/>
            <p:custDataLst>
              <p:tags r:id="rId5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可能的顾虑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7"/>
            </p:custDataLst>
          </p:nvPr>
        </p:nvSpPr>
        <p:spPr>
          <a:xfrm>
            <a:off x="4568825" y="2870200"/>
            <a:ext cx="3054350" cy="2245360"/>
          </a:xfrm>
        </p:spPr>
        <p:txBody>
          <a:bodyPr>
            <a:normAutofit/>
          </a:bodyPr>
          <a:p>
            <a:pPr marL="342900" indent="-342900" algn="l">
              <a:buAutoNum type="arabicPeriod"/>
            </a:pPr>
            <a:r>
              <a:rPr lang="zh-CN" altLang="en-US">
                <a:solidFill>
                  <a:schemeClr val="tx1"/>
                </a:solidFill>
                <a:effectLst/>
                <a:sym typeface="+mn-ea"/>
              </a:rPr>
              <a:t>女性健康指向强，可能局限品类认知</a:t>
            </a:r>
            <a:endParaRPr lang="zh-CN" altLang="en-US">
              <a:solidFill>
                <a:schemeClr val="tx1"/>
              </a:solidFill>
              <a:effectLst/>
              <a:sym typeface="+mn-ea"/>
            </a:endParaRPr>
          </a:p>
          <a:p>
            <a:pPr marL="342900" indent="-342900" algn="l">
              <a:buAutoNum type="arabicPeriod"/>
            </a:pPr>
            <a:r>
              <a:rPr lang="zh-CN" altLang="en-US">
                <a:solidFill>
                  <a:schemeClr val="tx1"/>
                </a:solidFill>
                <a:effectLst/>
                <a:sym typeface="+mn-ea"/>
              </a:rPr>
              <a:t>用户对设计外观的直观识别存在明显差异，对看不懂的用户造成困扰，</a:t>
            </a:r>
            <a:endParaRPr lang="zh-CN" altLang="en-US">
              <a:solidFill>
                <a:schemeClr val="tx1"/>
              </a:solidFill>
              <a:effectLst/>
              <a:sym typeface="+mn-ea"/>
            </a:endParaRPr>
          </a:p>
          <a:p>
            <a:pPr marL="342900" indent="-342900" algn="l">
              <a:buAutoNum type="arabicPeriod"/>
            </a:pPr>
            <a:r>
              <a:rPr lang="zh-CN" altLang="en-US">
                <a:solidFill>
                  <a:schemeClr val="tx1"/>
                </a:solidFill>
                <a:effectLst/>
                <a:sym typeface="+mn-ea"/>
              </a:rPr>
              <a:t>明显的私密部位形象可能让低调用户反感。</a:t>
            </a:r>
            <a:endParaRPr lang="zh-CN" altLang="en-US">
              <a:solidFill>
                <a:schemeClr val="tx1"/>
              </a:solidFill>
              <a:effectLst/>
              <a:sym typeface="+mn-ea"/>
            </a:endParaRPr>
          </a:p>
          <a:p>
            <a:pPr marL="342900" indent="-342900">
              <a:buAutoNum type="arabicPeriod"/>
            </a:pPr>
            <a:endParaRPr lang="zh-CN" altLang="en-US">
              <a:effectLst/>
            </a:endParaRPr>
          </a:p>
          <a:p>
            <a:pPr marL="342900" indent="-342900">
              <a:buAutoNum type="arabicPeriod"/>
            </a:pPr>
            <a:endParaRPr lang="zh-CN" altLang="en-US">
              <a:effectLst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95"/>
            <p:custDataLst>
              <p:tags r:id="rId8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受众性别的影响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2"/>
            <p:custDataLst>
              <p:tags r:id="rId10"/>
            </p:custDataLst>
          </p:nvPr>
        </p:nvSpPr>
        <p:spPr>
          <a:xfrm>
            <a:off x="8251825" y="2870200"/>
            <a:ext cx="3330575" cy="2245360"/>
          </a:xfrm>
        </p:spPr>
        <p:txBody>
          <a:bodyPr>
            <a:normAutofit fontScale="90000"/>
          </a:bodyPr>
          <a:p>
            <a:pPr marL="342900" indent="-342900" algn="l">
              <a:buAutoNum type="arabicPeriod"/>
            </a:pPr>
            <a:r>
              <a:rPr lang="zh-CN" altLang="en-US"/>
              <a:t>问卷面向的</a:t>
            </a:r>
            <a:r>
              <a:rPr lang="en-US" altLang="zh-CN"/>
              <a:t>25-45</a:t>
            </a:r>
            <a:r>
              <a:rPr lang="zh-CN" altLang="en-US"/>
              <a:t>岁群体，大部分对情趣玩具接受程度较高。这两个因素对</a:t>
            </a:r>
            <a:r>
              <a:rPr lang="en-US" altLang="zh-CN"/>
              <a:t>LOGO</a:t>
            </a:r>
            <a:r>
              <a:rPr lang="zh-CN" altLang="en-US"/>
              <a:t>的态度没有显著差异。</a:t>
            </a:r>
            <a:endParaRPr lang="zh-CN" altLang="en-US"/>
          </a:p>
          <a:p>
            <a:pPr marL="342900" indent="-342900" algn="l">
              <a:buAutoNum type="arabicPeriod"/>
            </a:pPr>
            <a:r>
              <a:rPr lang="zh-CN" altLang="en-US"/>
              <a:t>女性比男性更有可能对这个</a:t>
            </a:r>
            <a:r>
              <a:rPr lang="en-US" altLang="zh-CN"/>
              <a:t>LOGO</a:t>
            </a:r>
            <a:r>
              <a:rPr lang="zh-CN" altLang="en-US"/>
              <a:t>产生中立，</a:t>
            </a:r>
            <a:r>
              <a:rPr lang="en-US" altLang="zh-CN"/>
              <a:t> </a:t>
            </a:r>
            <a:r>
              <a:rPr lang="zh-CN" altLang="en-US"/>
              <a:t>没有感情倾向的态度，对于目标用户是女性的品牌来说没有必要过于曝光</a:t>
            </a:r>
            <a:r>
              <a:rPr lang="en-US" altLang="zh-CN"/>
              <a:t>LOGO</a:t>
            </a:r>
            <a:r>
              <a:rPr lang="zh-CN" altLang="en-US"/>
              <a:t>。</a:t>
            </a:r>
            <a:endParaRPr lang="zh-CN" altLang="en-US"/>
          </a:p>
          <a:p>
            <a:pPr marL="342900" indent="-342900" algn="l">
              <a:buAutoNum type="arabicPeriod"/>
            </a:pP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需衡量风险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附件</a:t>
            </a:r>
            <a:r>
              <a:rPr lang="en-US" altLang="zh-CN"/>
              <a:t>-</a:t>
            </a:r>
            <a:r>
              <a:rPr lang="zh-CN" altLang="en-US"/>
              <a:t>问题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>
          <a:xfrm>
            <a:off x="623570" y="2311400"/>
            <a:ext cx="3454400" cy="3657600"/>
          </a:xfrm>
        </p:spPr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开放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/>
        <p:txBody>
          <a:bodyPr/>
          <a:p>
            <a:pPr algn="l"/>
            <a:r>
              <a:rPr lang="en-US" altLang="zh-CN">
                <a:sym typeface="+mn-ea"/>
              </a:rPr>
              <a:t>Q1: Considering this logo represents a sex toy /sexual wellness brand, What is your first feeling to this logo?</a:t>
            </a:r>
            <a:endParaRPr lang="en-US" altLang="zh-CN"/>
          </a:p>
          <a:p>
            <a:pPr algn="l"/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94"/>
            <p:custDataLst>
              <p:tags r:id="rId5"/>
            </p:custDataLst>
          </p:nvPr>
        </p:nvSpPr>
        <p:spPr>
          <a:xfrm>
            <a:off x="4382770" y="2311400"/>
            <a:ext cx="3454400" cy="3657600"/>
          </a:xfrm>
        </p:spPr>
        <p:txBody>
          <a:bodyPr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单选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7"/>
            </p:custDataLst>
          </p:nvPr>
        </p:nvSpPr>
        <p:spPr>
          <a:xfrm>
            <a:off x="4502785" y="2809875"/>
            <a:ext cx="3218180" cy="2030095"/>
          </a:xfrm>
        </p:spPr>
        <p:txBody>
          <a:bodyPr>
            <a:noAutofit/>
          </a:bodyPr>
          <a:p>
            <a:pPr algn="l"/>
            <a:r>
              <a:rPr lang="en-US" altLang="zh-CN" sz="1000"/>
              <a:t>Q2: Given that this logo belongs to a sex toy/ sexual wellness brand, how would you characterize its visual style? Please select the option that most closely aligns with your first impression.</a:t>
            </a:r>
            <a:endParaRPr lang="en-US" altLang="zh-CN" sz="1000"/>
          </a:p>
          <a:p>
            <a:pPr marL="228600" indent="-228600" algn="l">
              <a:buFont typeface="+mj-lt"/>
              <a:buAutoNum type="alphaUcPeriod"/>
            </a:pPr>
            <a:r>
              <a:rPr lang="en-US" altLang="zh-CN" sz="1000"/>
              <a:t>Overly explicit / Provocative: The design feels too suggestive or unrefined; I find it unappealing.</a:t>
            </a:r>
            <a:endParaRPr lang="en-US" altLang="zh-CN" sz="1000"/>
          </a:p>
          <a:p>
            <a:pPr marL="228600" indent="-228600" algn="l">
              <a:buFont typeface="+mj-lt"/>
              <a:buAutoNum type="alphaUcPeriod"/>
            </a:pPr>
            <a:r>
              <a:rPr lang="en-US" altLang="zh-CN" sz="1000"/>
              <a:t>Somewhat explicit: The design feels a bit too "bold" or low-end; it doesn’t quite appeal to me.</a:t>
            </a:r>
            <a:endParaRPr lang="en-US" altLang="zh-CN" sz="1000"/>
          </a:p>
          <a:p>
            <a:pPr marL="228600" indent="-228600" algn="l">
              <a:buFont typeface="+mj-lt"/>
              <a:buAutoNum type="alphaUcPeriod"/>
            </a:pPr>
            <a:r>
              <a:rPr lang="en-US" altLang="zh-CN" sz="1000"/>
              <a:t>Balanced / neutral, it leaves me with a neutral sentiment.</a:t>
            </a:r>
            <a:endParaRPr lang="en-US" altLang="zh-CN" sz="1000"/>
          </a:p>
          <a:p>
            <a:pPr marL="228600" indent="-228600" algn="l">
              <a:buFont typeface="+mj-lt"/>
              <a:buAutoNum type="alphaUcPeriod"/>
            </a:pPr>
            <a:r>
              <a:rPr lang="en-US" altLang="zh-CN" sz="1000"/>
              <a:t>Somewhat tasteful: The design feels relatively elegant and modern. I find it somewhat appealing.</a:t>
            </a:r>
            <a:endParaRPr lang="en-US" altLang="zh-CN" sz="1000"/>
          </a:p>
          <a:p>
            <a:pPr marL="228600" indent="-228600" algn="l">
              <a:buFont typeface="+mj-lt"/>
              <a:buAutoNum type="alphaUcPeriod"/>
            </a:pPr>
            <a:r>
              <a:rPr lang="en-US" altLang="zh-CN" sz="1000"/>
              <a:t>Highly tasteful: The design feels exceptionally elegant and high-end; I find it very appealing.</a:t>
            </a:r>
            <a:endParaRPr lang="en-US" altLang="zh-CN" sz="1000"/>
          </a:p>
        </p:txBody>
      </p:sp>
      <p:sp>
        <p:nvSpPr>
          <p:cNvPr id="9" name="文本占位符 8"/>
          <p:cNvSpPr>
            <a:spLocks noGrp="1"/>
          </p:cNvSpPr>
          <p:nvPr>
            <p:ph type="body" idx="16395"/>
            <p:custDataLst>
              <p:tags r:id="rId8"/>
            </p:custDataLst>
          </p:nvPr>
        </p:nvSpPr>
        <p:spPr>
          <a:xfrm>
            <a:off x="8114030" y="2311400"/>
            <a:ext cx="3454400" cy="3657600"/>
          </a:xfrm>
        </p:spPr>
        <p:txBody>
          <a:bodyPr/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单选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2"/>
            <p:custDataLst>
              <p:tags r:id="rId10"/>
            </p:custDataLst>
          </p:nvPr>
        </p:nvSpPr>
        <p:spPr>
          <a:xfrm>
            <a:off x="8221980" y="2870200"/>
            <a:ext cx="3255010" cy="1524000"/>
          </a:xfrm>
        </p:spPr>
        <p:txBody>
          <a:bodyPr>
            <a:normAutofit fontScale="80000"/>
          </a:bodyPr>
          <a:p>
            <a:pPr algn="l">
              <a:buFont typeface="+mj-lt"/>
            </a:pPr>
            <a:r>
              <a:rPr lang="en-US" altLang="zh-CN"/>
              <a:t>Q3: Have you ever purchased any sex toys/ sexual wellness products?</a:t>
            </a:r>
            <a:endParaRPr lang="en-US" altLang="zh-CN"/>
          </a:p>
          <a:p>
            <a:pPr marL="342900" indent="-342900" algn="l">
              <a:buFont typeface="+mj-lt"/>
              <a:buAutoNum type="alphaUcPeriod"/>
            </a:pPr>
            <a:endParaRPr lang="en-US" altLang="zh-CN"/>
          </a:p>
          <a:p>
            <a:pPr marL="342900" indent="-342900" algn="l">
              <a:buFont typeface="+mj-lt"/>
              <a:buAutoNum type="alphaUcPeriod"/>
            </a:pPr>
            <a:r>
              <a:rPr lang="en-US" altLang="zh-CN"/>
              <a:t>Yes</a:t>
            </a:r>
            <a:endParaRPr lang="en-US" altLang="zh-CN"/>
          </a:p>
          <a:p>
            <a:pPr marL="342900" indent="-342900" algn="l">
              <a:buFont typeface="+mj-lt"/>
              <a:buAutoNum type="alphaUcPeriod"/>
            </a:pPr>
            <a:r>
              <a:rPr lang="en-US" altLang="zh-CN"/>
              <a:t>No, but I am open to it</a:t>
            </a:r>
            <a:endParaRPr lang="en-US" altLang="zh-CN"/>
          </a:p>
          <a:p>
            <a:pPr marL="342900" indent="-342900" algn="l">
              <a:buFont typeface="+mj-lt"/>
              <a:buAutoNum type="alphaUcPeriod"/>
            </a:pPr>
            <a:r>
              <a:rPr lang="en-US" altLang="zh-CN"/>
              <a:t>No, and I am not interested</a:t>
            </a:r>
            <a:endParaRPr lang="en-US" altLang="zh-CN"/>
          </a:p>
          <a:p>
            <a:pPr marL="342900" indent="-342900" algn="l">
              <a:buFont typeface="+mj-lt"/>
              <a:buAutoNum type="alphaUcPeriod"/>
            </a:pPr>
            <a:endParaRPr lang="en-US" altLang="zh-CN"/>
          </a:p>
        </p:txBody>
      </p:sp>
    </p:spTree>
    <p:custDataLst>
      <p:tags r:id="rId1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262b556398ba613033da5acd1e2d2f709d6931a"/>
  <p:tag name="KSO_WM_NEWLAYOUT_ID" val="slide_c6abacca6bf3f510"/>
</p:tagLst>
</file>

<file path=ppt/tags/tag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b"/>
</p:tagLst>
</file>

<file path=ppt/tags/tag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b"/>
</p:tagLst>
</file>

<file path=ppt/tags/tag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78b539457941e2bd3684d044fdbcaaacfbd1b7a"/>
  <p:tag name="KSO_WM_NEWLAYOUT_ID" val="slide_d171c85291120dbc"/>
</p:tagLst>
</file>

<file path=ppt/tags/tag6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262b556398ba613033da5acd1e2d2f709d6931a"/>
  <p:tag name="KSO_WM_NEWLAYOUT_ID" val="slide_c6abacca6bf3f510"/>
</p:tagLst>
</file>

<file path=ppt/tags/tag1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b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b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5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fgm#"/>
  <p:tag name="KSO_WM_FIGMA_FLAG" val="#fgm#"/>
  <p:tag name="KSO_WM_UNIT_INDEX" val="1"/>
  <p:tag name="KSO_WM_UNIT_TYPE" val="a"/>
  <p:tag name="KSO_WM_LAYOUT_CHECK_HASH" val="b262b556398ba613033da5acd1e2d2f709d6931a"/>
  <p:tag name="KSO_WM_NEWLAYOUT_ID" val="slide_c6abacca6bf3f510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b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61.xml><?xml version="1.0" encoding="utf-8"?>
<p:tagLst xmlns:p="http://schemas.openxmlformats.org/presentationml/2006/main">
  <p:tag name="TABLE_ENDDRAG_ORIGIN_RECT" val="419*43"/>
  <p:tag name="TABLE_ENDDRAG_RECT" val="48*280*420*43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b"/>
</p:tagLst>
</file>

<file path=ppt/tags/tag1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SLIDE_ID" val="slide_c6abacca6bf3f510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KSO_WM_FIGMA_FLAG" val="#fgm#"/>
  <p:tag name="KSO_WM_UNIT_INDEX" val="1"/>
  <p:tag name="KSO_WM_UNIT_TYPE" val="a"/>
  <p:tag name="KSO_WM_LAYOUT_CHECK_HASH" val="b262b556398ba613033da5acd1e2d2f709d6931a"/>
  <p:tag name="KSO_WM_NEWLAYOUT_ID" val="slide_c6abacca6bf3f510"/>
</p:tagLst>
</file>

<file path=ppt/tags/tag1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SLIDE_ID" val="slide_c6abacca6bf3f510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fgm#"/>
  <p:tag name="KSO_WM_FIGMA_FLAG" val="#fgm#"/>
  <p:tag name="KSO_WM_UNIT_INDEX" val="1"/>
  <p:tag name="KSO_WM_UNIT_TYPE" val="a"/>
  <p:tag name="KSO_WM_LAYOUT_CHECK_HASH" val="b78b539457941e2bd3684d044fdbcaaacfbd1b7a"/>
  <p:tag name="KSO_WM_NEWLAYOUT_ID" val="slide_d171c85291120dbc"/>
</p:tagLst>
</file>

<file path=ppt/tags/tag16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SLIDE_ID" val="slide_d171c85291120dbc"/>
</p:tagLst>
</file>

<file path=ppt/tags/tag1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78b539457941e2bd3684d044fdbcaaacfbd1b7a"/>
  <p:tag name="KSO_WM_NEWLAYOUT_ID" val="slide_d171c85291120dbc"/>
</p:tagLst>
</file>

<file path=ppt/tags/tag17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78b539457941e2bd3684d044fdbcaaacfbd1b7a"/>
  <p:tag name="KSO_WM_NEWLAYOUT_ID" val="slide_d171c85291120dbc"/>
</p:tagLst>
</file>

<file path=ppt/tags/tag18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2808</Words>
  <Application>WPS 演示</Application>
  <PresentationFormat>宽屏</PresentationFormat>
  <Paragraphs>150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Segoe UI</vt:lpstr>
      <vt:lpstr>黑体</vt:lpstr>
      <vt:lpstr>微软雅黑</vt:lpstr>
      <vt:lpstr>Arial Unicode MS</vt:lpstr>
      <vt:lpstr>Calibri</vt:lpstr>
      <vt:lpstr>WPS</vt:lpstr>
      <vt:lpstr>1_WPS</vt:lpstr>
      <vt:lpstr>AV PLAY LOGO问卷分析</vt:lpstr>
      <vt:lpstr>样本总览</vt:lpstr>
      <vt:lpstr>描述性统计：认为LOGO”有品味”&gt;“露骨”，但中立比例很大</vt:lpstr>
      <vt:lpstr>定性分析：用户对LOGO的评价&amp;顾虑</vt:lpstr>
      <vt:lpstr>性别影响因素</vt:lpstr>
      <vt:lpstr>总结</vt:lpstr>
      <vt:lpstr>附件-问题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OCD</cp:lastModifiedBy>
  <cp:revision>180</cp:revision>
  <dcterms:created xsi:type="dcterms:W3CDTF">2019-06-19T02:08:00Z</dcterms:created>
  <dcterms:modified xsi:type="dcterms:W3CDTF">2026-02-27T08:35:39Z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B6F25194F59249FA8DBAB70F381FA2A7_13</vt:lpwstr>
  </property>
</Properties>
</file>
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9" r:id="rId3"/>
    <p:sldId id="257" r:id="rId5"/>
    <p:sldId id="260" r:id="rId6"/>
  </p:sldIdLst>
  <p:sldSz cx="18288000" cy="10287000"/>
  <p:notesSz cx="6858000" cy="9144000"/>
  <p:embeddedFontLst>
    <p:embeddedFont>
      <p:font typeface="Calibri" panose="020F0502020204030204"/>
      <p:regular r:id="rId10"/>
      <p:bold r:id="rId11"/>
      <p:italic r:id="rId12"/>
      <p:boldItalic r:id="rId13"/>
    </p:embeddedFont>
    <p:embeddedFont>
      <p:font typeface="Lato" panose="020F0502020204030203"/>
      <p:regular r:id="rId14"/>
      <p:bold r:id="rId15"/>
      <p:italic r:id="rId16"/>
      <p:boldItalic r:id="rId17"/>
    </p:embeddedFont>
    <p:embeddedFont>
      <p:font typeface="Canva Sans" panose="020B0503030501040103"/>
      <p:regular r:id="rId18"/>
    </p:embeddedFont>
    <p:embeddedFont>
      <p:font typeface="Canva Sans Bold" panose="020B0803030501040103"/>
      <p:bold r:id="rId19"/>
    </p:embeddedFont>
    <p:embeddedFont>
      <p:font typeface="Arial MT Pro" panose="020B0502020202020204"/>
      <p:regular r:id="rId20"/>
    </p:embeddedFont>
    <p:embeddedFont>
      <p:font typeface="Arial MT Pro Bold" panose="020B0802020202020204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89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dmin\Downloads\&#21697;&#29260;&#30693;&#21517;&#24230;&#30446;&#26631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1"/>
              <a:t> 品牌知名度</a:t>
            </a:r>
            <a:endParaRPr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5155722326454"/>
          <c:y val="0.151913875598086"/>
          <c:w val="0.810731707317073"/>
          <c:h val="0.66176236044657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[品牌知名度目标.xlsx]工作表1!$B$48</c:f>
              <c:strCache>
                <c:ptCount val="1"/>
                <c:pt idx="0">
                  <c:v>赛维品牌</c:v>
                </c:pt>
              </c:strCache>
            </c:strRef>
          </c:tx>
          <c:spPr>
            <a:gradFill>
              <a:gsLst>
                <a:gs pos="53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dLbl>
              <c:idx val="3"/>
              <c:layout>
                <c:manualLayout>
                  <c:x val="0.0107519699812383"/>
                  <c:y val="-0.002392344497607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[品牌知名度目标.xlsx]工作表1!$A$49:$A$54</c:f>
              <c:strCache>
                <c:ptCount val="6"/>
                <c:pt idx="0">
                  <c:v>COOFANDY</c:v>
                </c:pt>
                <c:pt idx="1">
                  <c:v>EKOUAER</c:v>
                </c:pt>
                <c:pt idx="2">
                  <c:v>AVIDLOVE</c:v>
                </c:pt>
                <c:pt idx="3">
                  <c:v>ARSHINER</c:v>
                </c:pt>
                <c:pt idx="4">
                  <c:v>ZEAGOO</c:v>
                </c:pt>
                <c:pt idx="5">
                  <c:v>PINSPARK</c:v>
                </c:pt>
              </c:strCache>
            </c:strRef>
          </c:cat>
          <c:val>
            <c:numRef>
              <c:f>[品牌知名度目标.xlsx]工作表1!$B$49:$B$54</c:f>
              <c:numCache>
                <c:formatCode>0.00%</c:formatCode>
                <c:ptCount val="6"/>
                <c:pt idx="0">
                  <c:v>0.38</c:v>
                </c:pt>
                <c:pt idx="1">
                  <c:v>0.373</c:v>
                </c:pt>
                <c:pt idx="2">
                  <c:v>0.483</c:v>
                </c:pt>
                <c:pt idx="3">
                  <c:v>0.32</c:v>
                </c:pt>
                <c:pt idx="4">
                  <c:v>0.337</c:v>
                </c:pt>
                <c:pt idx="5">
                  <c:v>0.218</c:v>
                </c:pt>
              </c:numCache>
            </c:numRef>
          </c:val>
        </c:ser>
        <c:ser>
          <c:idx val="1"/>
          <c:order val="1"/>
          <c:tx>
            <c:strRef>
              <c:f>[品牌知名度目标.xlsx]工作表1!$C$48</c:f>
              <c:strCache>
                <c:ptCount val="1"/>
                <c:pt idx="0">
                  <c:v>竞品TOP1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.0348968105065666"/>
                  <c:y val="0.00956937799043062"/>
                </c:manualLayout>
              </c:layout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4220474438665"/>
                      <c:h val="0.10762331838565"/>
                    </c:manualLayout>
                  </c15:layout>
                  <c15:dlblFieldTable/>
                  <c15:showDataLabelsRange val="1"/>
                </c:ext>
              </c:extLst>
            </c:dLbl>
            <c:dLbl>
              <c:idx val="1"/>
              <c:layout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>
                <c:manualLayout>
                  <c:x val="-0.0146341463414634"/>
                  <c:y val="0"/>
                </c:manualLayout>
              </c:layout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0015222630978"/>
                      <c:h val="0.10762331838565"/>
                    </c:manualLayout>
                  </c15:layout>
                  <c15:dlblFieldTable/>
                  <c15:showDataLabelsRange val="1"/>
                </c:ext>
              </c:extLst>
            </c:dLbl>
            <c:dLbl>
              <c:idx val="3"/>
              <c:layout>
                <c:manualLayout>
                  <c:x val="0.00902709633074146"/>
                  <c:y val="0.00979144763662114"/>
                </c:manualLayout>
              </c:layout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4"/>
              <c:layout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>
                <c:manualLayout>
                  <c:x val="0.0127527852821245"/>
                  <c:y val="0.00239234449760766"/>
                </c:manualLayout>
              </c:layout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[品牌知名度目标.xlsx]工作表1!$A$49:$A$54</c:f>
              <c:strCache>
                <c:ptCount val="6"/>
                <c:pt idx="0">
                  <c:v>COOFANDY</c:v>
                </c:pt>
                <c:pt idx="1">
                  <c:v>EKOUAER</c:v>
                </c:pt>
                <c:pt idx="2">
                  <c:v>AVIDLOVE</c:v>
                </c:pt>
                <c:pt idx="3">
                  <c:v>ARSHINER</c:v>
                </c:pt>
                <c:pt idx="4">
                  <c:v>ZEAGOO</c:v>
                </c:pt>
                <c:pt idx="5">
                  <c:v>PINSPARK</c:v>
                </c:pt>
              </c:strCache>
            </c:strRef>
          </c:cat>
          <c:val>
            <c:numRef>
              <c:f>[品牌知名度目标.xlsx]工作表1!$C$49:$C$54</c:f>
              <c:numCache>
                <c:formatCode>0.00%</c:formatCode>
                <c:ptCount val="6"/>
                <c:pt idx="0">
                  <c:v>0.607</c:v>
                </c:pt>
                <c:pt idx="1" c:formatCode="0%">
                  <c:v>0.607</c:v>
                </c:pt>
                <c:pt idx="2">
                  <c:v>0.51</c:v>
                </c:pt>
                <c:pt idx="3">
                  <c:v>0.628</c:v>
                </c:pt>
                <c:pt idx="4" c:formatCode="0%">
                  <c:v>0.213</c:v>
                </c:pt>
                <c:pt idx="5">
                  <c:v>0.654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工作表1!$D$49:$D$54</c15:f>
                <c15:dlblRangeCache>
                  <c:ptCount val="6"/>
                  <c:pt idx="0">
                    <c:v>Tommy Hilfiger 98.7%</c:v>
                  </c:pt>
                  <c:pt idx="1">
                    <c:v>Fruit of the loom 98%</c:v>
                  </c:pt>
                  <c:pt idx="2">
                    <c:v>VICTORIA'S SECRET 99.3%</c:v>
                  </c:pt>
                  <c:pt idx="3">
                    <c:v>DISNEY 94.8%</c:v>
                  </c:pt>
                  <c:pt idx="4">
                    <c:v>AUTOMET 55%</c:v>
                  </c:pt>
                  <c:pt idx="5">
                    <c:v>ALO YOGA 87.2%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105850527"/>
        <c:axId val="11244290"/>
      </c:barChart>
      <c:catAx>
        <c:axId val="105850527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244290"/>
        <c:crosses val="autoZero"/>
        <c:auto val="0"/>
        <c:lblAlgn val="ctr"/>
        <c:lblOffset val="100"/>
        <c:noMultiLvlLbl val="0"/>
      </c:catAx>
      <c:valAx>
        <c:axId val="1124429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noFill/>
              <a:round/>
            </a:ln>
            <a:effectLst/>
          </c:spPr>
        </c:min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5850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7188e0a-fa2d-4093-bbec-082a6cf68f76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3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108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10800000" scaled="0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.jpeg"/><Relationship Id="rId11" Type="http://schemas.openxmlformats.org/officeDocument/2006/relationships/image" Target="../media/image6.png"/><Relationship Id="rId10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0.xml"/><Relationship Id="rId7" Type="http://schemas.openxmlformats.org/officeDocument/2006/relationships/image" Target="../media/image10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9.png"/><Relationship Id="rId35" Type="http://schemas.openxmlformats.org/officeDocument/2006/relationships/notesSlide" Target="../notesSlides/notesSlide2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25.xml"/><Relationship Id="rId32" Type="http://schemas.openxmlformats.org/officeDocument/2006/relationships/tags" Target="../tags/tag24.xml"/><Relationship Id="rId31" Type="http://schemas.openxmlformats.org/officeDocument/2006/relationships/image" Target="../media/image20.png"/><Relationship Id="rId30" Type="http://schemas.openxmlformats.org/officeDocument/2006/relationships/tags" Target="../tags/tag23.xml"/><Relationship Id="rId3" Type="http://schemas.openxmlformats.org/officeDocument/2006/relationships/tags" Target="../tags/tag7.xml"/><Relationship Id="rId29" Type="http://schemas.openxmlformats.org/officeDocument/2006/relationships/tags" Target="../tags/tag22.xml"/><Relationship Id="rId28" Type="http://schemas.openxmlformats.org/officeDocument/2006/relationships/image" Target="../media/image19.png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image" Target="../media/image18.png"/><Relationship Id="rId22" Type="http://schemas.openxmlformats.org/officeDocument/2006/relationships/tags" Target="../tags/tag17.xml"/><Relationship Id="rId21" Type="http://schemas.openxmlformats.org/officeDocument/2006/relationships/image" Target="../media/image17.png"/><Relationship Id="rId20" Type="http://schemas.openxmlformats.org/officeDocument/2006/relationships/tags" Target="../tags/tag16.xml"/><Relationship Id="rId2" Type="http://schemas.openxmlformats.org/officeDocument/2006/relationships/tags" Target="../tags/tag6.xml"/><Relationship Id="rId19" Type="http://schemas.openxmlformats.org/officeDocument/2006/relationships/image" Target="../media/image16.png"/><Relationship Id="rId18" Type="http://schemas.openxmlformats.org/officeDocument/2006/relationships/tags" Target="../tags/tag15.xml"/><Relationship Id="rId17" Type="http://schemas.openxmlformats.org/officeDocument/2006/relationships/image" Target="../media/image15.png"/><Relationship Id="rId16" Type="http://schemas.openxmlformats.org/officeDocument/2006/relationships/tags" Target="../tags/tag14.xml"/><Relationship Id="rId15" Type="http://schemas.openxmlformats.org/officeDocument/2006/relationships/image" Target="../media/image14.png"/><Relationship Id="rId14" Type="http://schemas.openxmlformats.org/officeDocument/2006/relationships/tags" Target="../tags/tag13.xml"/><Relationship Id="rId13" Type="http://schemas.openxmlformats.org/officeDocument/2006/relationships/image" Target="../media/image13.png"/><Relationship Id="rId12" Type="http://schemas.openxmlformats.org/officeDocument/2006/relationships/tags" Target="../tags/tag12.xml"/><Relationship Id="rId11" Type="http://schemas.openxmlformats.org/officeDocument/2006/relationships/image" Target="../media/image12.png"/><Relationship Id="rId10" Type="http://schemas.openxmlformats.org/officeDocument/2006/relationships/tags" Target="../tags/tag11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../media/image23.png"/><Relationship Id="rId6" Type="http://schemas.openxmlformats.org/officeDocument/2006/relationships/tags" Target="../tags/tag28.xml"/><Relationship Id="rId5" Type="http://schemas.openxmlformats.org/officeDocument/2006/relationships/image" Target="../media/image22.png"/><Relationship Id="rId4" Type="http://schemas.openxmlformats.org/officeDocument/2006/relationships/tags" Target="../tags/tag27.xml"/><Relationship Id="rId3" Type="http://schemas.openxmlformats.org/officeDocument/2006/relationships/image" Target="../media/image21.png"/><Relationship Id="rId29" Type="http://schemas.openxmlformats.org/officeDocument/2006/relationships/notesSlide" Target="../notesSlides/notesSlide3.x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31.png"/><Relationship Id="rId26" Type="http://schemas.openxmlformats.org/officeDocument/2006/relationships/image" Target="../media/image30.png"/><Relationship Id="rId25" Type="http://schemas.openxmlformats.org/officeDocument/2006/relationships/image" Target="../media/image13.png"/><Relationship Id="rId24" Type="http://schemas.openxmlformats.org/officeDocument/2006/relationships/tags" Target="../tags/tag39.xml"/><Relationship Id="rId23" Type="http://schemas.openxmlformats.org/officeDocument/2006/relationships/image" Target="../media/image29.png"/><Relationship Id="rId22" Type="http://schemas.openxmlformats.org/officeDocument/2006/relationships/image" Target="../media/image28.png"/><Relationship Id="rId21" Type="http://schemas.openxmlformats.org/officeDocument/2006/relationships/image" Target="../media/image27.png"/><Relationship Id="rId20" Type="http://schemas.openxmlformats.org/officeDocument/2006/relationships/tags" Target="../tags/tag38.xml"/><Relationship Id="rId2" Type="http://schemas.openxmlformats.org/officeDocument/2006/relationships/tags" Target="../tags/tag26.xml"/><Relationship Id="rId19" Type="http://schemas.openxmlformats.org/officeDocument/2006/relationships/image" Target="../media/image26.png"/><Relationship Id="rId18" Type="http://schemas.openxmlformats.org/officeDocument/2006/relationships/tags" Target="../tags/tag37.xml"/><Relationship Id="rId17" Type="http://schemas.openxmlformats.org/officeDocument/2006/relationships/image" Target="../media/image25.png"/><Relationship Id="rId16" Type="http://schemas.openxmlformats.org/officeDocument/2006/relationships/tags" Target="../tags/tag36.xml"/><Relationship Id="rId15" Type="http://schemas.openxmlformats.org/officeDocument/2006/relationships/image" Target="../media/image24.png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57250" y="2909570"/>
            <a:ext cx="4746625" cy="328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572250" y="2909570"/>
            <a:ext cx="4746625" cy="328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287250" y="2909570"/>
            <a:ext cx="4746625" cy="328739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43000" y="857250"/>
            <a:ext cx="17102138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宋体" panose="02010600030101010101" pitchFamily="2" charset="-122"/>
                <a:cs typeface="Poppins" panose="00000500000000000000"/>
                <a:sym typeface="Poppins" panose="00000500000000000000"/>
              </a:rPr>
              <a:t>一、</a:t>
            </a: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2025</a:t>
            </a:r>
            <a:r>
              <a:rPr lang="zh-CN" alt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宋体" panose="02010600030101010101" pitchFamily="2" charset="-122"/>
                <a:cs typeface="Poppins" panose="00000500000000000000"/>
                <a:sym typeface="Poppins" panose="00000500000000000000"/>
              </a:rPr>
              <a:t>年</a:t>
            </a: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品牌知名度突破性增长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57250" y="857250"/>
            <a:ext cx="114300" cy="900113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137137" tIns="68550" rIns="137137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-380265" y="9791718"/>
            <a:ext cx="1657350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1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*数据来源：2026Q1</a:t>
            </a:r>
            <a:r>
              <a:rPr lang="zh-CN" altLang="en-US" sz="2250" b="0" i="1" u="none" strike="noStrike" cap="none">
                <a:solidFill>
                  <a:srgbClr val="64748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品牌调研，</a:t>
            </a:r>
            <a:r>
              <a:rPr lang="en-US" altLang="zh-CN" sz="2250" b="0" i="1" u="none" strike="noStrike" cap="none">
                <a:solidFill>
                  <a:srgbClr val="64748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 N&gt;600</a:t>
            </a:r>
            <a:r>
              <a:rPr lang="zh-CN" altLang="en-US" sz="2250" b="0" i="1" u="none" strike="noStrike" cap="none">
                <a:solidFill>
                  <a:srgbClr val="64748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人，</a:t>
            </a:r>
            <a:r>
              <a:rPr lang="en-US" altLang="zh-CN" sz="2250" b="0" i="1" u="none" strike="noStrike" cap="none">
                <a:solidFill>
                  <a:srgbClr val="64748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 US consumers</a:t>
            </a:r>
            <a:endParaRPr lang="en-US" altLang="zh-CN" sz="2250" b="0" i="1" u="none" strike="noStrike" cap="none">
              <a:solidFill>
                <a:srgbClr val="64748B"/>
              </a:solidFill>
              <a:latin typeface="Lato" panose="020F0502020204030203"/>
              <a:ea typeface="宋体" panose="02010600030101010101" pitchFamily="2" charset="-122"/>
              <a:cs typeface="Lato" panose="020F0502020204030203"/>
              <a:sym typeface="Lato" panose="020F0502020204030203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75030" y="3374390"/>
            <a:ext cx="4664075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28.5% → 38%</a:t>
            </a:r>
            <a:endParaRPr lang="en-US" altLang="zh-CN" sz="4400" b="1" i="0" u="none" strike="noStrike" cap="none">
              <a:solidFill>
                <a:srgbClr val="FF6B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（+9.5%）</a:t>
            </a:r>
            <a:endParaRPr lang="en-US" altLang="zh-CN" sz="4400" b="1" i="0" u="none" strike="noStrike" cap="none">
              <a:solidFill>
                <a:srgbClr val="FF6B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928235"/>
            <a:ext cx="3691890" cy="80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COOFANDY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400" b="0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知名度</a:t>
            </a:r>
            <a:endParaRPr lang="en-US" sz="2400" b="0" i="0" u="none" strike="noStrike" cap="none">
              <a:solidFill>
                <a:srgbClr val="0F172A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10350" y="4888230"/>
            <a:ext cx="3691890" cy="80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AVIDLOVE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400" b="0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知名度</a:t>
            </a:r>
            <a:endParaRPr lang="en-US" sz="2400" b="0" i="0" u="none" strike="noStrike" cap="none">
              <a:solidFill>
                <a:srgbClr val="0F172A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04198" y="6873845"/>
            <a:ext cx="4347776" cy="2865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135061" y="6873845"/>
            <a:ext cx="4347777" cy="2865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965923" y="6873845"/>
            <a:ext cx="4347777" cy="286599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2285773" y="7581593"/>
            <a:ext cx="4347900" cy="67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33.7</a:t>
            </a:r>
            <a:r>
              <a:rPr lang="en-US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%</a:t>
            </a:r>
            <a:endParaRPr sz="4400"/>
          </a:p>
        </p:txBody>
      </p:sp>
      <p:sp>
        <p:nvSpPr>
          <p:cNvPr id="109" name="Google Shape;109;p14"/>
          <p:cNvSpPr txBox="1"/>
          <p:nvPr/>
        </p:nvSpPr>
        <p:spPr>
          <a:xfrm>
            <a:off x="2787284" y="8546195"/>
            <a:ext cx="3381750" cy="70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ZEAGOO</a:t>
            </a:r>
            <a:br>
              <a:rPr lang="en-US" sz="22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280" b="0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知名度</a:t>
            </a:r>
            <a:endParaRPr sz="1780"/>
          </a:p>
        </p:txBody>
      </p:sp>
      <p:sp>
        <p:nvSpPr>
          <p:cNvPr id="110" name="Google Shape;110;p14"/>
          <p:cNvSpPr txBox="1"/>
          <p:nvPr/>
        </p:nvSpPr>
        <p:spPr>
          <a:xfrm>
            <a:off x="7599733" y="7581578"/>
            <a:ext cx="3381750" cy="67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32</a:t>
            </a:r>
            <a:r>
              <a:rPr lang="en-US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%</a:t>
            </a:r>
            <a:endParaRPr sz="4400"/>
          </a:p>
        </p:txBody>
      </p:sp>
      <p:sp>
        <p:nvSpPr>
          <p:cNvPr id="111" name="Google Shape;111;p14"/>
          <p:cNvSpPr txBox="1"/>
          <p:nvPr/>
        </p:nvSpPr>
        <p:spPr>
          <a:xfrm>
            <a:off x="7618148" y="8546195"/>
            <a:ext cx="3381750" cy="70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ARSHINER</a:t>
            </a:r>
            <a:br>
              <a:rPr lang="en-US" sz="22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280" b="0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知名度</a:t>
            </a:r>
            <a:endParaRPr sz="1780"/>
          </a:p>
        </p:txBody>
      </p:sp>
      <p:sp>
        <p:nvSpPr>
          <p:cNvPr id="112" name="Google Shape;112;p14"/>
          <p:cNvSpPr txBox="1"/>
          <p:nvPr/>
        </p:nvSpPr>
        <p:spPr>
          <a:xfrm>
            <a:off x="12430595" y="7581578"/>
            <a:ext cx="3381750" cy="67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21.8</a:t>
            </a:r>
            <a:r>
              <a:rPr lang="en-US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%</a:t>
            </a:r>
            <a:endParaRPr sz="4400"/>
          </a:p>
        </p:txBody>
      </p:sp>
      <p:sp>
        <p:nvSpPr>
          <p:cNvPr id="113" name="Google Shape;113;p14"/>
          <p:cNvSpPr txBox="1"/>
          <p:nvPr/>
        </p:nvSpPr>
        <p:spPr>
          <a:xfrm>
            <a:off x="12449010" y="8546195"/>
            <a:ext cx="3381750" cy="70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PINSPARK</a:t>
            </a:r>
            <a:br>
              <a:rPr lang="en-US" sz="22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280" b="0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知名度</a:t>
            </a:r>
            <a:endParaRPr sz="1780"/>
          </a:p>
        </p:txBody>
      </p:sp>
      <p:sp>
        <p:nvSpPr>
          <p:cNvPr id="114" name="Google Shape;114;p14"/>
          <p:cNvSpPr txBox="1"/>
          <p:nvPr/>
        </p:nvSpPr>
        <p:spPr>
          <a:xfrm>
            <a:off x="838200" y="1868427"/>
            <a:ext cx="16002000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1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成熟品牌：</a:t>
            </a:r>
            <a:r>
              <a:rPr lang="zh-CN" altLang="en-US" sz="2250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持续营销投入（NASCAR赛事合作、品牌走秀）构建认知护城河，知名度显著攀升。</a:t>
            </a:r>
            <a:endParaRPr lang="zh-CN" altLang="en-US" sz="2250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1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新锐力量：</a:t>
            </a:r>
            <a:r>
              <a:rPr lang="en-US" altLang="zh-CN" sz="2250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ZEAGOO / PINSPARK / ARSHINER </a:t>
            </a:r>
            <a:r>
              <a:rPr lang="zh-CN" altLang="en-US" sz="2250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首次纳入品牌追踪，起步表现亮眼，潜力可期。</a:t>
            </a:r>
            <a:endParaRPr lang="zh-CN" altLang="en-US" sz="2250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2401550" y="4888230"/>
            <a:ext cx="3691890" cy="80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EKOUAER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400" b="0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知名度</a:t>
            </a:r>
            <a:endParaRPr lang="en-US" sz="2400" b="0" i="0" u="none" strike="noStrike" cap="none">
              <a:solidFill>
                <a:srgbClr val="0F172A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" y="4010660"/>
            <a:ext cx="70548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250" b="1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成熟品牌</a:t>
            </a:r>
            <a:endParaRPr lang="en-US" altLang="en-US" sz="2250" b="1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7429500"/>
            <a:ext cx="57658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250" b="1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新锐力量</a:t>
            </a:r>
            <a:endParaRPr lang="en-US" altLang="en-US" sz="2250" b="1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9" name="Group 19"/>
          <p:cNvGrpSpPr/>
          <p:nvPr>
            <p:custDataLst>
              <p:tags r:id="rId2"/>
            </p:custDataLst>
          </p:nvPr>
        </p:nvGrpSpPr>
        <p:grpSpPr>
          <a:xfrm rot="0">
            <a:off x="9705340" y="4964168"/>
            <a:ext cx="1400175" cy="1019174"/>
            <a:chOff x="-106584" y="-197369"/>
            <a:chExt cx="2422861" cy="1987154"/>
          </a:xfrm>
        </p:grpSpPr>
        <p:sp>
          <p:nvSpPr>
            <p:cNvPr id="20" name="Freeform 20"/>
            <p:cNvSpPr/>
            <p:nvPr>
              <p:custDataLst>
                <p:tags r:id="rId3"/>
              </p:custDataLst>
            </p:nvPr>
          </p:nvSpPr>
          <p:spPr>
            <a:xfrm>
              <a:off x="-106584" y="-197369"/>
              <a:ext cx="1001010" cy="1092007"/>
            </a:xfrm>
            <a:custGeom>
              <a:avLst/>
              <a:gdLst/>
              <a:ahLst/>
              <a:cxnLst/>
              <a:rect l="l" t="t" r="r" b="b"/>
              <a:pathLst>
                <a:path w="894637" h="894637">
                  <a:moveTo>
                    <a:pt x="0" y="0"/>
                  </a:moveTo>
                  <a:lnTo>
                    <a:pt x="894637" y="0"/>
                  </a:lnTo>
                  <a:lnTo>
                    <a:pt x="894637" y="894637"/>
                  </a:lnTo>
                  <a:lnTo>
                    <a:pt x="0" y="894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21" name="Freeform 21"/>
            <p:cNvSpPr/>
            <p:nvPr>
              <p:custDataLst>
                <p:tags r:id="rId5"/>
              </p:custDataLst>
            </p:nvPr>
          </p:nvSpPr>
          <p:spPr>
            <a:xfrm>
              <a:off x="69407" y="895148"/>
              <a:ext cx="2027109" cy="894637"/>
            </a:xfrm>
            <a:custGeom>
              <a:avLst/>
              <a:gdLst/>
              <a:ahLst/>
              <a:cxnLst/>
              <a:rect l="l" t="t" r="r" b="b"/>
              <a:pathLst>
                <a:path w="2027109" h="894637">
                  <a:moveTo>
                    <a:pt x="0" y="0"/>
                  </a:moveTo>
                  <a:lnTo>
                    <a:pt x="2027109" y="0"/>
                  </a:lnTo>
                  <a:lnTo>
                    <a:pt x="2027109" y="894637"/>
                  </a:lnTo>
                  <a:lnTo>
                    <a:pt x="0" y="894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5383"/>
              </a:stretch>
            </a:blipFill>
          </p:spPr>
        </p:sp>
        <p:sp>
          <p:nvSpPr>
            <p:cNvPr id="22" name="Freeform 22"/>
            <p:cNvSpPr/>
            <p:nvPr>
              <p:custDataLst>
                <p:tags r:id="rId7"/>
              </p:custDataLst>
            </p:nvPr>
          </p:nvSpPr>
          <p:spPr>
            <a:xfrm>
              <a:off x="992219" y="-119369"/>
              <a:ext cx="1324058" cy="870386"/>
            </a:xfrm>
            <a:custGeom>
              <a:avLst/>
              <a:gdLst/>
              <a:ahLst/>
              <a:cxnLst/>
              <a:rect l="l" t="t" r="r" b="b"/>
              <a:pathLst>
                <a:path w="851088" h="851088">
                  <a:moveTo>
                    <a:pt x="0" y="0"/>
                  </a:moveTo>
                  <a:lnTo>
                    <a:pt x="851088" y="0"/>
                  </a:lnTo>
                  <a:lnTo>
                    <a:pt x="851088" y="851088"/>
                  </a:lnTo>
                  <a:lnTo>
                    <a:pt x="0" y="851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68600" y="5040630"/>
            <a:ext cx="1168400" cy="94170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3886200" y="4964430"/>
            <a:ext cx="1442720" cy="1017905"/>
            <a:chOff x="6120" y="7740"/>
            <a:chExt cx="2272" cy="1603"/>
          </a:xfrm>
        </p:grpSpPr>
        <p:sp>
          <p:nvSpPr>
            <p:cNvPr id="26" name="Freeform 26"/>
            <p:cNvSpPr/>
            <p:nvPr>
              <p:custDataLst>
                <p:tags r:id="rId10"/>
              </p:custDataLst>
            </p:nvPr>
          </p:nvSpPr>
          <p:spPr>
            <a:xfrm>
              <a:off x="6120" y="7740"/>
              <a:ext cx="2133" cy="1063"/>
            </a:xfrm>
            <a:custGeom>
              <a:avLst/>
              <a:gdLst/>
              <a:ahLst/>
              <a:cxnLst/>
              <a:rect l="l" t="t" r="r" b="b"/>
              <a:pathLst>
                <a:path w="2857264" h="1309371">
                  <a:moveTo>
                    <a:pt x="0" y="0"/>
                  </a:moveTo>
                  <a:lnTo>
                    <a:pt x="2857264" y="0"/>
                  </a:lnTo>
                  <a:lnTo>
                    <a:pt x="2857264" y="1309371"/>
                  </a:lnTo>
                  <a:lnTo>
                    <a:pt x="0" y="1309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4232" t="-10683" r="-14272" b="-13301"/>
              </a:stretch>
            </a:blipFill>
          </p:spPr>
        </p:sp>
        <p:pic>
          <p:nvPicPr>
            <p:cNvPr id="5" name="图片 4"/>
            <p:cNvPicPr/>
            <p:nvPr/>
          </p:nvPicPr>
          <p:blipFill>
            <a:blip r:embed="rId12"/>
            <a:srcRect t="29724" b="34878"/>
            <a:stretch>
              <a:fillRect/>
            </a:stretch>
          </p:blipFill>
          <p:spPr>
            <a:xfrm>
              <a:off x="6120" y="8827"/>
              <a:ext cx="2273" cy="516"/>
            </a:xfrm>
            <a:prstGeom prst="rect">
              <a:avLst/>
            </a:prstGeom>
          </p:spPr>
        </p:pic>
      </p:grpSp>
      <p:sp>
        <p:nvSpPr>
          <p:cNvPr id="1" name="Google Shape;99;p14"/>
          <p:cNvSpPr txBox="1"/>
          <p:nvPr/>
        </p:nvSpPr>
        <p:spPr>
          <a:xfrm>
            <a:off x="6553200" y="3374390"/>
            <a:ext cx="4664075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39.2% → </a:t>
            </a:r>
            <a:r>
              <a:rPr lang="en-US" sz="4400" b="1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48.3</a:t>
            </a: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%</a:t>
            </a:r>
            <a:endParaRPr lang="en-US" altLang="zh-CN" sz="4400" b="1" i="0" u="none" strike="noStrike" cap="none">
              <a:solidFill>
                <a:srgbClr val="FF6B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（+9.1%）</a:t>
            </a:r>
            <a:endParaRPr lang="en-US" altLang="zh-CN" sz="4400" b="1" i="0" u="none" strike="noStrike" cap="none">
              <a:solidFill>
                <a:srgbClr val="FF6B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" name="Google Shape;99;p14"/>
          <p:cNvSpPr txBox="1"/>
          <p:nvPr/>
        </p:nvSpPr>
        <p:spPr>
          <a:xfrm>
            <a:off x="12352020" y="3374390"/>
            <a:ext cx="4664075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31.0% → </a:t>
            </a:r>
            <a:r>
              <a:rPr lang="en-US" sz="4400" b="1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37.3</a:t>
            </a: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%</a:t>
            </a:r>
            <a:endParaRPr lang="en-US" altLang="zh-CN" sz="4400" b="1" i="0" u="none" strike="noStrike" cap="none">
              <a:solidFill>
                <a:srgbClr val="FF6B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cap="none">
                <a:solidFill>
                  <a:srgbClr val="FF6B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（+6.3%）</a:t>
            </a:r>
            <a:endParaRPr lang="en-US" altLang="zh-CN" sz="4400" b="1" i="0" u="none" strike="noStrike" cap="none">
              <a:solidFill>
                <a:srgbClr val="FF6B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/>
          <p:cNvGrpSpPr/>
          <p:nvPr/>
        </p:nvGrpSpPr>
        <p:grpSpPr>
          <a:xfrm>
            <a:off x="12116435" y="5829300"/>
            <a:ext cx="5603240" cy="4183380"/>
            <a:chOff x="720" y="2251"/>
            <a:chExt cx="5550" cy="4350"/>
          </a:xfrm>
        </p:grpSpPr>
        <p:pic>
          <p:nvPicPr>
            <p:cNvPr id="70" name="Google Shape;151;p15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20" y="2251"/>
              <a:ext cx="5550" cy="4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154;p15"/>
            <p:cNvSpPr txBox="1"/>
            <p:nvPr/>
          </p:nvSpPr>
          <p:spPr>
            <a:xfrm>
              <a:off x="1015" y="2657"/>
              <a:ext cx="4851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FF6B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PINSPARK</a:t>
              </a:r>
              <a:endParaRPr lang="en-US" sz="1800" b="1" i="0" u="none" strike="noStrike" cap="none">
                <a:solidFill>
                  <a:srgbClr val="FF6B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</p:txBody>
        </p:sp>
        <p:sp>
          <p:nvSpPr>
            <p:cNvPr id="72" name="Google Shape;227;p15"/>
            <p:cNvSpPr/>
            <p:nvPr/>
          </p:nvSpPr>
          <p:spPr>
            <a:xfrm>
              <a:off x="1016" y="2409"/>
              <a:ext cx="4765" cy="195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293485" y="5829300"/>
            <a:ext cx="5603240" cy="4183380"/>
            <a:chOff x="720" y="2251"/>
            <a:chExt cx="5550" cy="4350"/>
          </a:xfrm>
        </p:grpSpPr>
        <p:pic>
          <p:nvPicPr>
            <p:cNvPr id="66" name="Google Shape;151;p15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20" y="2251"/>
              <a:ext cx="5550" cy="4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154;p15"/>
            <p:cNvSpPr txBox="1"/>
            <p:nvPr/>
          </p:nvSpPr>
          <p:spPr>
            <a:xfrm>
              <a:off x="1015" y="2657"/>
              <a:ext cx="4851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FF6B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ZEAGOO</a:t>
              </a:r>
              <a:endParaRPr lang="en-US" sz="1800" b="1" i="0" u="none" strike="noStrike" cap="none">
                <a:solidFill>
                  <a:srgbClr val="FF6B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</p:txBody>
        </p:sp>
        <p:sp>
          <p:nvSpPr>
            <p:cNvPr id="68" name="Google Shape;227;p15"/>
            <p:cNvSpPr/>
            <p:nvPr/>
          </p:nvSpPr>
          <p:spPr>
            <a:xfrm>
              <a:off x="1016" y="2409"/>
              <a:ext cx="4765" cy="195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73380" y="5829300"/>
            <a:ext cx="5603240" cy="4183380"/>
            <a:chOff x="720" y="2251"/>
            <a:chExt cx="5550" cy="4350"/>
          </a:xfrm>
        </p:grpSpPr>
        <p:pic>
          <p:nvPicPr>
            <p:cNvPr id="62" name="Google Shape;151;p15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20" y="2251"/>
              <a:ext cx="5550" cy="4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154;p15"/>
            <p:cNvSpPr txBox="1"/>
            <p:nvPr/>
          </p:nvSpPr>
          <p:spPr>
            <a:xfrm>
              <a:off x="1015" y="2657"/>
              <a:ext cx="4851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FF6B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ARSHINER</a:t>
              </a:r>
              <a:endParaRPr lang="en-US" sz="1800" b="1" i="0" u="none" strike="noStrike" cap="none">
                <a:solidFill>
                  <a:srgbClr val="FF6B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</p:txBody>
        </p:sp>
        <p:sp>
          <p:nvSpPr>
            <p:cNvPr id="64" name="Google Shape;227;p15"/>
            <p:cNvSpPr/>
            <p:nvPr/>
          </p:nvSpPr>
          <p:spPr>
            <a:xfrm>
              <a:off x="1016" y="2409"/>
              <a:ext cx="4765" cy="195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2058650" y="1333500"/>
            <a:ext cx="5603240" cy="4183380"/>
            <a:chOff x="720" y="2251"/>
            <a:chExt cx="5550" cy="4350"/>
          </a:xfrm>
        </p:grpSpPr>
        <p:pic>
          <p:nvPicPr>
            <p:cNvPr id="58" name="Google Shape;151;p15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20" y="2251"/>
              <a:ext cx="5550" cy="4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154;p15"/>
            <p:cNvSpPr txBox="1"/>
            <p:nvPr/>
          </p:nvSpPr>
          <p:spPr>
            <a:xfrm>
              <a:off x="1015" y="2657"/>
              <a:ext cx="4851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FF6B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AVIDLOVE</a:t>
              </a:r>
              <a:endParaRPr lang="en-US" sz="1800" b="1" i="0" u="none" strike="noStrike" cap="none">
                <a:solidFill>
                  <a:srgbClr val="FF6B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</p:txBody>
        </p:sp>
        <p:sp>
          <p:nvSpPr>
            <p:cNvPr id="60" name="Google Shape;227;p15"/>
            <p:cNvSpPr/>
            <p:nvPr/>
          </p:nvSpPr>
          <p:spPr>
            <a:xfrm>
              <a:off x="1016" y="2409"/>
              <a:ext cx="4765" cy="195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73380" y="1333500"/>
            <a:ext cx="5603240" cy="4183380"/>
            <a:chOff x="720" y="2251"/>
            <a:chExt cx="5550" cy="4350"/>
          </a:xfrm>
        </p:grpSpPr>
        <p:pic>
          <p:nvPicPr>
            <p:cNvPr id="54" name="Google Shape;151;p15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20" y="2251"/>
              <a:ext cx="5550" cy="4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154;p15"/>
            <p:cNvSpPr txBox="1"/>
            <p:nvPr/>
          </p:nvSpPr>
          <p:spPr>
            <a:xfrm>
              <a:off x="1015" y="2657"/>
              <a:ext cx="4851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FF6B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COOFANDY</a:t>
              </a:r>
              <a:endParaRPr lang="en-US" sz="1800" b="1" i="0" u="none" strike="noStrike" cap="none">
                <a:solidFill>
                  <a:srgbClr val="FF6B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</p:txBody>
        </p:sp>
        <p:sp>
          <p:nvSpPr>
            <p:cNvPr id="56" name="Google Shape;227;p15"/>
            <p:cNvSpPr/>
            <p:nvPr/>
          </p:nvSpPr>
          <p:spPr>
            <a:xfrm>
              <a:off x="1016" y="2409"/>
              <a:ext cx="4765" cy="195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38240" y="1333500"/>
            <a:ext cx="5603240" cy="4183380"/>
            <a:chOff x="720" y="2251"/>
            <a:chExt cx="5550" cy="4350"/>
          </a:xfrm>
        </p:grpSpPr>
        <p:pic>
          <p:nvPicPr>
            <p:cNvPr id="151" name="Google Shape;151;p15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20" y="2251"/>
              <a:ext cx="5550" cy="4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5"/>
            <p:cNvSpPr txBox="1"/>
            <p:nvPr/>
          </p:nvSpPr>
          <p:spPr>
            <a:xfrm>
              <a:off x="1015" y="2657"/>
              <a:ext cx="4851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FF6B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EKOUAER</a:t>
              </a:r>
              <a:endParaRPr lang="en-US" sz="1800" b="1" i="0" u="none" strike="noStrike" cap="none">
                <a:solidFill>
                  <a:srgbClr val="FF6B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016" y="2409"/>
              <a:ext cx="4765" cy="195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8" name="TextBox 18"/>
          <p:cNvSpPr txBox="1"/>
          <p:nvPr>
            <p:custDataLst>
              <p:tags r:id="rId2"/>
            </p:custDataLst>
          </p:nvPr>
        </p:nvSpPr>
        <p:spPr>
          <a:xfrm>
            <a:off x="6553859" y="6496657"/>
            <a:ext cx="5164788" cy="17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驱动：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品质+舒适的面料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，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款式审美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。</a:t>
            </a:r>
            <a:endParaRPr lang="zh-CN" altLang="en-US" sz="1600">
              <a:solidFill>
                <a:srgbClr val="000000"/>
              </a:solidFill>
              <a:latin typeface="Canva Sans" panose="020B0503030501040103"/>
              <a:ea typeface="宋体" panose="02010600030101010101" pitchFamily="2" charset="-122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痛点：</a:t>
            </a:r>
            <a:r>
              <a:rPr lang="en-US" altLang="zh-CN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ZG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被认为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“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基础、百搭、成熟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”，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时尚感、产品展示效果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弱于竞品。本品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面料不舒服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。</a:t>
            </a:r>
            <a:endParaRPr lang="zh-CN" altLang="en-US" sz="1600">
              <a:solidFill>
                <a:srgbClr val="000000"/>
              </a:solidFill>
              <a:latin typeface="Canva Sans" panose="020B0503030501040103"/>
              <a:ea typeface="宋体" panose="02010600030101010101" pitchFamily="2" charset="-122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机会：</a:t>
            </a:r>
            <a:r>
              <a:rPr lang="zh-CN" altLang="en-US" sz="1600"/>
              <a:t>打破“基础款”限制，通过提升时尚设计感与面料体验，建立品牌的“溢价基因”。</a:t>
            </a:r>
            <a:r>
              <a:rPr lang="zh-CN" altLang="en-US" sz="1600">
                <a:sym typeface="+mn-ea"/>
              </a:rPr>
              <a:t>借势时尚明星，</a:t>
            </a:r>
            <a:r>
              <a:rPr lang="en-US" altLang="zh-CN" sz="1600"/>
              <a:t> </a:t>
            </a:r>
            <a:r>
              <a:rPr lang="zh-CN" altLang="en-US" sz="1600"/>
              <a:t>优化品牌店铺展示。</a:t>
            </a:r>
            <a:endParaRPr lang="zh-CN" altLang="en-US" sz="1600"/>
          </a:p>
        </p:txBody>
      </p:sp>
      <p:sp>
        <p:nvSpPr>
          <p:cNvPr id="23" name="Freeform 23"/>
          <p:cNvSpPr/>
          <p:nvPr>
            <p:custDataLst>
              <p:tags r:id="rId3"/>
            </p:custDataLst>
          </p:nvPr>
        </p:nvSpPr>
        <p:spPr>
          <a:xfrm>
            <a:off x="12411075" y="8021955"/>
            <a:ext cx="2987675" cy="1884045"/>
          </a:xfrm>
          <a:custGeom>
            <a:avLst/>
            <a:gdLst/>
            <a:ahLst/>
            <a:cxnLst/>
            <a:rect l="l" t="t" r="r" b="b"/>
            <a:pathLst>
              <a:path w="3180272" h="1930726">
                <a:moveTo>
                  <a:pt x="0" y="0"/>
                </a:moveTo>
                <a:lnTo>
                  <a:pt x="3180272" y="0"/>
                </a:lnTo>
                <a:lnTo>
                  <a:pt x="3180272" y="1930726"/>
                </a:lnTo>
                <a:lnTo>
                  <a:pt x="0" y="1930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7140"/>
            </a:stretch>
          </a:blipFill>
        </p:spPr>
      </p:sp>
      <p:sp>
        <p:nvSpPr>
          <p:cNvPr id="24" name="TextBox 24"/>
          <p:cNvSpPr txBox="1"/>
          <p:nvPr>
            <p:custDataLst>
              <p:tags r:id="rId5"/>
            </p:custDataLst>
          </p:nvPr>
        </p:nvSpPr>
        <p:spPr>
          <a:xfrm>
            <a:off x="12357735" y="6492875"/>
            <a:ext cx="516953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240"/>
              </a:lnSpc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驱动：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“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多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运动场景覆盖”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、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“</a:t>
            </a:r>
            <a:r>
              <a:rPr lang="en-US" sz="1600" b="1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耐穿”、”面料性能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”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痛点：</a:t>
            </a:r>
            <a:r>
              <a:rPr lang="en-US" altLang="zh-CN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PS </a:t>
            </a:r>
            <a:r>
              <a:rPr lang="zh-CN" altLang="en-US" sz="1600" b="1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运动场景覆盖度不足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，既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缺乏“专业感”，也缺乏</a:t>
            </a:r>
            <a:r>
              <a:rPr lang="en-US" altLang="zh-CN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“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时尚感</a:t>
            </a:r>
            <a:r>
              <a:rPr lang="en-US" altLang="zh-CN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”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。</a:t>
            </a:r>
            <a:endParaRPr lang="zh-CN" alt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机会：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强化“运动场景覆盖”。从单纯的性价比向“专业</a:t>
            </a:r>
            <a:r>
              <a:rPr lang="en-US" altLang="zh-CN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或</a:t>
            </a:r>
            <a:r>
              <a:rPr lang="en-US" altLang="zh-CN" sz="1600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 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时尚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+跨场景适配”升级。</a:t>
            </a:r>
            <a:endParaRPr lang="zh-CN" altLang="en-US" sz="16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5" name="Freeform 25"/>
          <p:cNvSpPr/>
          <p:nvPr>
            <p:custDataLst>
              <p:tags r:id="rId6"/>
            </p:custDataLst>
          </p:nvPr>
        </p:nvSpPr>
        <p:spPr>
          <a:xfrm>
            <a:off x="908050" y="3390900"/>
            <a:ext cx="2696210" cy="1269365"/>
          </a:xfrm>
          <a:custGeom>
            <a:avLst/>
            <a:gdLst/>
            <a:ahLst/>
            <a:cxnLst/>
            <a:rect l="l" t="t" r="r" b="b"/>
            <a:pathLst>
              <a:path w="2894231" h="1276430">
                <a:moveTo>
                  <a:pt x="0" y="0"/>
                </a:moveTo>
                <a:lnTo>
                  <a:pt x="2894231" y="0"/>
                </a:lnTo>
                <a:lnTo>
                  <a:pt x="2894231" y="1276430"/>
                </a:lnTo>
                <a:lnTo>
                  <a:pt x="0" y="12764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Freeform 26"/>
          <p:cNvSpPr/>
          <p:nvPr>
            <p:custDataLst>
              <p:tags r:id="rId8"/>
            </p:custDataLst>
          </p:nvPr>
        </p:nvSpPr>
        <p:spPr>
          <a:xfrm>
            <a:off x="6401101" y="4076991"/>
            <a:ext cx="2660656" cy="1104219"/>
          </a:xfrm>
          <a:custGeom>
            <a:avLst/>
            <a:gdLst/>
            <a:ahLst/>
            <a:cxnLst/>
            <a:rect l="l" t="t" r="r" b="b"/>
            <a:pathLst>
              <a:path w="2660656" h="1104219">
                <a:moveTo>
                  <a:pt x="0" y="0"/>
                </a:moveTo>
                <a:lnTo>
                  <a:pt x="2660655" y="0"/>
                </a:lnTo>
                <a:lnTo>
                  <a:pt x="2660655" y="1104219"/>
                </a:lnTo>
                <a:lnTo>
                  <a:pt x="0" y="1104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7" name="Freeform 27"/>
          <p:cNvSpPr/>
          <p:nvPr>
            <p:custDataLst>
              <p:tags r:id="rId10"/>
            </p:custDataLst>
          </p:nvPr>
        </p:nvSpPr>
        <p:spPr>
          <a:xfrm>
            <a:off x="8991906" y="4045241"/>
            <a:ext cx="2829332" cy="1062855"/>
          </a:xfrm>
          <a:custGeom>
            <a:avLst/>
            <a:gdLst/>
            <a:ahLst/>
            <a:cxnLst/>
            <a:rect l="l" t="t" r="r" b="b"/>
            <a:pathLst>
              <a:path w="2829332" h="1062855">
                <a:moveTo>
                  <a:pt x="0" y="0"/>
                </a:moveTo>
                <a:lnTo>
                  <a:pt x="2829332" y="0"/>
                </a:lnTo>
                <a:lnTo>
                  <a:pt x="2829332" y="1062856"/>
                </a:lnTo>
                <a:lnTo>
                  <a:pt x="0" y="10628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Freeform 28"/>
          <p:cNvSpPr/>
          <p:nvPr>
            <p:custDataLst>
              <p:tags r:id="rId12"/>
            </p:custDataLst>
          </p:nvPr>
        </p:nvSpPr>
        <p:spPr>
          <a:xfrm>
            <a:off x="12270738" y="3653117"/>
            <a:ext cx="2546036" cy="1297309"/>
          </a:xfrm>
          <a:custGeom>
            <a:avLst/>
            <a:gdLst/>
            <a:ahLst/>
            <a:cxnLst/>
            <a:rect l="l" t="t" r="r" b="b"/>
            <a:pathLst>
              <a:path w="2546036" h="1297309">
                <a:moveTo>
                  <a:pt x="0" y="0"/>
                </a:moveTo>
                <a:lnTo>
                  <a:pt x="2546036" y="0"/>
                </a:lnTo>
                <a:lnTo>
                  <a:pt x="2546036" y="1297309"/>
                </a:lnTo>
                <a:lnTo>
                  <a:pt x="0" y="129730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-8072"/>
            </a:stretch>
          </a:blipFill>
        </p:spPr>
      </p:sp>
      <p:sp>
        <p:nvSpPr>
          <p:cNvPr id="29" name="Freeform 29"/>
          <p:cNvSpPr/>
          <p:nvPr>
            <p:custDataLst>
              <p:tags r:id="rId14"/>
            </p:custDataLst>
          </p:nvPr>
        </p:nvSpPr>
        <p:spPr>
          <a:xfrm>
            <a:off x="15131099" y="3619791"/>
            <a:ext cx="1913398" cy="1426190"/>
          </a:xfrm>
          <a:custGeom>
            <a:avLst/>
            <a:gdLst/>
            <a:ahLst/>
            <a:cxnLst/>
            <a:rect l="l" t="t" r="r" b="b"/>
            <a:pathLst>
              <a:path w="1913398" h="1426190">
                <a:moveTo>
                  <a:pt x="0" y="0"/>
                </a:moveTo>
                <a:lnTo>
                  <a:pt x="1913399" y="0"/>
                </a:lnTo>
                <a:lnTo>
                  <a:pt x="1913399" y="1426191"/>
                </a:lnTo>
                <a:lnTo>
                  <a:pt x="0" y="14261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Freeform 30"/>
          <p:cNvSpPr/>
          <p:nvPr>
            <p:custDataLst>
              <p:tags r:id="rId16"/>
            </p:custDataLst>
          </p:nvPr>
        </p:nvSpPr>
        <p:spPr>
          <a:xfrm>
            <a:off x="9272158" y="8188989"/>
            <a:ext cx="2624659" cy="1716712"/>
          </a:xfrm>
          <a:custGeom>
            <a:avLst/>
            <a:gdLst/>
            <a:ahLst/>
            <a:cxnLst/>
            <a:rect l="l" t="t" r="r" b="b"/>
            <a:pathLst>
              <a:path w="2624659" h="1716712">
                <a:moveTo>
                  <a:pt x="0" y="0"/>
                </a:moveTo>
                <a:lnTo>
                  <a:pt x="2624659" y="0"/>
                </a:lnTo>
                <a:lnTo>
                  <a:pt x="2624659" y="1716712"/>
                </a:lnTo>
                <a:lnTo>
                  <a:pt x="0" y="17167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r="-17301" b="-7828"/>
            </a:stretch>
          </a:blipFill>
        </p:spPr>
      </p:sp>
      <p:sp>
        <p:nvSpPr>
          <p:cNvPr id="31" name="Freeform 31"/>
          <p:cNvSpPr/>
          <p:nvPr>
            <p:custDataLst>
              <p:tags r:id="rId18"/>
            </p:custDataLst>
          </p:nvPr>
        </p:nvSpPr>
        <p:spPr>
          <a:xfrm>
            <a:off x="6509448" y="8214736"/>
            <a:ext cx="2600785" cy="1690964"/>
          </a:xfrm>
          <a:custGeom>
            <a:avLst/>
            <a:gdLst/>
            <a:ahLst/>
            <a:cxnLst/>
            <a:rect l="l" t="t" r="r" b="b"/>
            <a:pathLst>
              <a:path w="2600785" h="1690964">
                <a:moveTo>
                  <a:pt x="0" y="0"/>
                </a:moveTo>
                <a:lnTo>
                  <a:pt x="2600785" y="0"/>
                </a:lnTo>
                <a:lnTo>
                  <a:pt x="2600785" y="1690965"/>
                </a:lnTo>
                <a:lnTo>
                  <a:pt x="0" y="169096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r="-33016" b="-136857"/>
            </a:stretch>
          </a:blipFill>
        </p:spPr>
      </p:sp>
      <p:sp>
        <p:nvSpPr>
          <p:cNvPr id="32" name="Freeform 32"/>
          <p:cNvSpPr/>
          <p:nvPr>
            <p:custDataLst>
              <p:tags r:id="rId20"/>
            </p:custDataLst>
          </p:nvPr>
        </p:nvSpPr>
        <p:spPr>
          <a:xfrm>
            <a:off x="15544800" y="7928610"/>
            <a:ext cx="2045970" cy="1974215"/>
          </a:xfrm>
          <a:custGeom>
            <a:avLst/>
            <a:gdLst/>
            <a:ahLst/>
            <a:cxnLst/>
            <a:rect l="l" t="t" r="r" b="b"/>
            <a:pathLst>
              <a:path w="2348845" h="2140366">
                <a:moveTo>
                  <a:pt x="0" y="0"/>
                </a:moveTo>
                <a:lnTo>
                  <a:pt x="2348846" y="0"/>
                </a:lnTo>
                <a:lnTo>
                  <a:pt x="2348846" y="2140367"/>
                </a:lnTo>
                <a:lnTo>
                  <a:pt x="0" y="214036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1212" r="-39646" b="-101076"/>
            </a:stretch>
          </a:blipFill>
        </p:spPr>
      </p:sp>
      <p:sp>
        <p:nvSpPr>
          <p:cNvPr id="33" name="Freeform 33"/>
          <p:cNvSpPr/>
          <p:nvPr>
            <p:custDataLst>
              <p:tags r:id="rId22"/>
            </p:custDataLst>
          </p:nvPr>
        </p:nvSpPr>
        <p:spPr>
          <a:xfrm>
            <a:off x="3429000" y="4305300"/>
            <a:ext cx="2547620" cy="949325"/>
          </a:xfrm>
          <a:custGeom>
            <a:avLst/>
            <a:gdLst/>
            <a:ahLst/>
            <a:cxnLst/>
            <a:rect l="l" t="t" r="r" b="b"/>
            <a:pathLst>
              <a:path w="2646993" h="995618">
                <a:moveTo>
                  <a:pt x="0" y="0"/>
                </a:moveTo>
                <a:lnTo>
                  <a:pt x="2646993" y="0"/>
                </a:lnTo>
                <a:lnTo>
                  <a:pt x="2646993" y="995617"/>
                </a:lnTo>
                <a:lnTo>
                  <a:pt x="0" y="99561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43237" t="-219344" b="-109536"/>
            </a:stretch>
          </a:blipFill>
        </p:spPr>
      </p:sp>
      <p:sp>
        <p:nvSpPr>
          <p:cNvPr id="34" name="TextBox 34"/>
          <p:cNvSpPr txBox="1"/>
          <p:nvPr>
            <p:custDataLst>
              <p:tags r:id="rId24"/>
            </p:custDataLst>
          </p:nvPr>
        </p:nvSpPr>
        <p:spPr>
          <a:xfrm>
            <a:off x="571519" y="2018989"/>
            <a:ext cx="5368716" cy="143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驱动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：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品质耐穿、性价比、款式颜色图案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。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痛点：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CF品牌形象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短板</a:t>
            </a:r>
            <a:r>
              <a:rPr lang="en-US" altLang="zh-CN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-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在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质量和高端感方面薄弱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。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机会：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</a:rPr>
              <a:t>分层经营。守住大众线，拓展使用高质面料的高端系列。</a:t>
            </a:r>
            <a:endParaRPr lang="zh-CN" altLang="en-US"/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zh-CN" altLang="en-US"/>
          </a:p>
        </p:txBody>
      </p:sp>
      <p:sp>
        <p:nvSpPr>
          <p:cNvPr id="35" name="Freeform 35"/>
          <p:cNvSpPr/>
          <p:nvPr>
            <p:custDataLst>
              <p:tags r:id="rId25"/>
            </p:custDataLst>
          </p:nvPr>
        </p:nvSpPr>
        <p:spPr>
          <a:xfrm>
            <a:off x="3276698" y="3365189"/>
            <a:ext cx="2646993" cy="1035664"/>
          </a:xfrm>
          <a:custGeom>
            <a:avLst/>
            <a:gdLst/>
            <a:ahLst/>
            <a:cxnLst/>
            <a:rect l="l" t="t" r="r" b="b"/>
            <a:pathLst>
              <a:path w="2646993" h="1035664">
                <a:moveTo>
                  <a:pt x="0" y="0"/>
                </a:moveTo>
                <a:lnTo>
                  <a:pt x="2646993" y="0"/>
                </a:lnTo>
                <a:lnTo>
                  <a:pt x="2646993" y="1035663"/>
                </a:lnTo>
                <a:lnTo>
                  <a:pt x="0" y="103566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43237" t="-4145" b="-308151"/>
            </a:stretch>
          </a:blipFill>
        </p:spPr>
      </p:sp>
      <p:sp>
        <p:nvSpPr>
          <p:cNvPr id="40" name="TextBox 40"/>
          <p:cNvSpPr txBox="1"/>
          <p:nvPr>
            <p:custDataLst>
              <p:tags r:id="rId26"/>
            </p:custDataLst>
          </p:nvPr>
        </p:nvSpPr>
        <p:spPr>
          <a:xfrm>
            <a:off x="571676" y="6572857"/>
            <a:ext cx="5349491" cy="144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26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宋体" panose="02010600030101010101" pitchFamily="2" charset="-122"/>
                <a:cs typeface="Arial MT Pro" panose="020B0502020202020204"/>
                <a:sym typeface="Arial MT Pro" panose="020B0502020202020204"/>
              </a:rPr>
              <a:t>驱动：</a:t>
            </a:r>
            <a:r>
              <a:rPr lang="en-US" sz="1600" b="1">
                <a:solidFill>
                  <a:srgbClr val="000000"/>
                </a:solidFill>
                <a:latin typeface="Arial MT Pro Bold" panose="020B0802020202020204"/>
                <a:ea typeface="Arial MT Pro Bold" panose="020B0802020202020204"/>
                <a:cs typeface="Arial MT Pro Bold" panose="020B0802020202020204"/>
                <a:sym typeface="Arial MT Pro Bold" panose="020B0802020202020204"/>
              </a:rPr>
              <a:t>品牌口碑</a:t>
            </a:r>
            <a:r>
              <a:rPr lang="zh-CN" altLang="en-US" sz="1600" b="1">
                <a:solidFill>
                  <a:srgbClr val="000000"/>
                </a:solidFill>
                <a:latin typeface="Arial MT Pro Bold" panose="020B0802020202020204"/>
                <a:ea typeface="宋体" panose="02010600030101010101" pitchFamily="2" charset="-122"/>
                <a:cs typeface="Arial MT Pro Bold" panose="020B0802020202020204"/>
                <a:sym typeface="Arial MT Pro Bold" panose="020B0802020202020204"/>
              </a:rPr>
              <a:t>、质量、品牌知名。</a:t>
            </a:r>
            <a:r>
              <a:rPr lang="en-US" altLang="zh-CN" sz="1600" b="1">
                <a:solidFill>
                  <a:srgbClr val="000000"/>
                </a:solidFill>
                <a:latin typeface="Arial MT Pro Bold" panose="020B0802020202020204"/>
                <a:ea typeface="宋体" panose="02010600030101010101" pitchFamily="2" charset="-122"/>
                <a:cs typeface="Arial MT Pro Bold" panose="020B0802020202020204"/>
                <a:sym typeface="Arial MT Pro Bold" panose="020B0802020202020204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仪式驱动</a:t>
            </a:r>
            <a:r>
              <a:rPr 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需求- </a:t>
            </a:r>
            <a:r>
              <a:rPr lang="en-US" sz="1600" b="1">
                <a:solidFill>
                  <a:srgbClr val="000000"/>
                </a:solidFill>
                <a:latin typeface="Arial MT Pro Bold" panose="020B0802020202020204"/>
                <a:ea typeface="Arial MT Pro Bold" panose="020B0802020202020204"/>
                <a:cs typeface="Arial MT Pro Bold" panose="020B0802020202020204"/>
                <a:sym typeface="Arial MT Pro Bold" panose="020B0802020202020204"/>
              </a:rPr>
              <a:t> “季节、节日、孩子年龄”</a:t>
            </a:r>
            <a:r>
              <a:rPr 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 </a:t>
            </a:r>
            <a:endParaRPr lang="en-US" sz="1600">
              <a:solidFill>
                <a:srgbClr val="000000"/>
              </a:solidFill>
              <a:latin typeface="Arial MT Pro" panose="020B0502020202020204"/>
              <a:ea typeface="Arial MT Pro" panose="020B0502020202020204"/>
              <a:cs typeface="Arial MT Pro" panose="020B0502020202020204"/>
              <a:sym typeface="Arial MT Pro" panose="020B0502020202020204"/>
            </a:endParaRPr>
          </a:p>
          <a:p>
            <a:pPr marL="285750" indent="-285750" algn="l">
              <a:lnSpc>
                <a:spcPts val="226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宋体" panose="02010600030101010101" pitchFamily="2" charset="-122"/>
                <a:cs typeface="Arial MT Pro" panose="020B0502020202020204"/>
                <a:sym typeface="Arial MT Pro" panose="020B0502020202020204"/>
              </a:rPr>
              <a:t>痛点：</a:t>
            </a:r>
            <a:r>
              <a:rPr lang="en-US" sz="1600" b="1">
                <a:solidFill>
                  <a:srgbClr val="000000"/>
                </a:solidFill>
                <a:latin typeface="Arial MT Pro Bold" panose="020B0802020202020204"/>
                <a:ea typeface="Arial MT Pro Bold" panose="020B0802020202020204"/>
                <a:cs typeface="Arial MT Pro Bold" panose="020B0802020202020204"/>
                <a:sym typeface="Arial MT Pro Bold" panose="020B0802020202020204"/>
              </a:rPr>
              <a:t>“安全可靠、质量好穿”等信任维度</a:t>
            </a:r>
            <a:r>
              <a:rPr 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缺失。</a:t>
            </a: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宋体" panose="02010600030101010101" pitchFamily="2" charset="-122"/>
                <a:cs typeface="Arial MT Pro" panose="020B0502020202020204"/>
                <a:sym typeface="Arial MT Pro" panose="020B0502020202020204"/>
              </a:rPr>
              <a:t>。</a:t>
            </a:r>
            <a:endParaRPr lang="zh-CN" altLang="en-US" sz="1600">
              <a:solidFill>
                <a:srgbClr val="000000"/>
              </a:solidFill>
              <a:latin typeface="Arial MT Pro" panose="020B0502020202020204"/>
              <a:ea typeface="宋体" panose="02010600030101010101" pitchFamily="2" charset="-122"/>
              <a:cs typeface="Arial MT Pro" panose="020B0502020202020204"/>
              <a:sym typeface="Arial MT Pro" panose="020B0502020202020204"/>
            </a:endParaRPr>
          </a:p>
          <a:p>
            <a:pPr marL="285750" indent="-285750" algn="l">
              <a:lnSpc>
                <a:spcPts val="226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宋体" panose="02010600030101010101" pitchFamily="2" charset="-122"/>
                <a:cs typeface="Arial MT Pro" panose="020B0502020202020204"/>
                <a:sym typeface="Arial MT Pro" panose="020B0502020202020204"/>
              </a:rPr>
              <a:t>机会：</a:t>
            </a:r>
            <a:r>
              <a:rPr 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面料认证</a:t>
            </a: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宋体" panose="02010600030101010101" pitchFamily="2" charset="-122"/>
                <a:cs typeface="Arial MT Pro" panose="020B0502020202020204"/>
                <a:sym typeface="Arial MT Pro" panose="020B0502020202020204"/>
              </a:rPr>
              <a:t>，</a:t>
            </a: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构建童装</a:t>
            </a:r>
            <a:r>
              <a:rPr lang="zh-CN" altLang="en-US" sz="1600" b="1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品牌信任</a:t>
            </a: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护城河</a:t>
            </a:r>
            <a:r>
              <a:rPr 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。</a:t>
            </a:r>
            <a:r>
              <a:rPr lang="zh-CN" altLang="en-US" sz="1600"/>
              <a:t> </a:t>
            </a:r>
            <a:r>
              <a:rPr lang="zh-CN" altLang="en-US" sz="1600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</a:rPr>
              <a:t>针对季节、节日做“限定系列”，覆盖校园、表演、旅行多场景。</a:t>
            </a:r>
            <a:endParaRPr lang="zh-CN" altLang="en-US" sz="1600">
              <a:solidFill>
                <a:srgbClr val="000000"/>
              </a:solidFill>
              <a:latin typeface="Arial MT Pro" panose="020B0502020202020204"/>
              <a:ea typeface="Arial MT Pro" panose="020B0502020202020204"/>
              <a:cs typeface="Arial MT Pro" panose="020B0502020202020204"/>
            </a:endParaRPr>
          </a:p>
        </p:txBody>
      </p:sp>
      <p:sp>
        <p:nvSpPr>
          <p:cNvPr id="41" name="Freeform 41"/>
          <p:cNvSpPr/>
          <p:nvPr>
            <p:custDataLst>
              <p:tags r:id="rId27"/>
            </p:custDataLst>
          </p:nvPr>
        </p:nvSpPr>
        <p:spPr>
          <a:xfrm>
            <a:off x="3200701" y="8021803"/>
            <a:ext cx="2113549" cy="471433"/>
          </a:xfrm>
          <a:custGeom>
            <a:avLst/>
            <a:gdLst/>
            <a:ahLst/>
            <a:cxnLst/>
            <a:rect l="l" t="t" r="r" b="b"/>
            <a:pathLst>
              <a:path w="2113549" h="471433">
                <a:moveTo>
                  <a:pt x="0" y="0"/>
                </a:moveTo>
                <a:lnTo>
                  <a:pt x="2113549" y="0"/>
                </a:lnTo>
                <a:lnTo>
                  <a:pt x="2113549" y="471433"/>
                </a:lnTo>
                <a:lnTo>
                  <a:pt x="0" y="47143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b="-516959"/>
            </a:stretch>
          </a:blipFill>
        </p:spPr>
      </p:sp>
      <p:sp>
        <p:nvSpPr>
          <p:cNvPr id="42" name="Freeform 42"/>
          <p:cNvSpPr/>
          <p:nvPr>
            <p:custDataLst>
              <p:tags r:id="rId29"/>
            </p:custDataLst>
          </p:nvPr>
        </p:nvSpPr>
        <p:spPr>
          <a:xfrm>
            <a:off x="3352800" y="8496300"/>
            <a:ext cx="1960245" cy="1273175"/>
          </a:xfrm>
          <a:custGeom>
            <a:avLst/>
            <a:gdLst/>
            <a:ahLst/>
            <a:cxnLst/>
            <a:rect l="l" t="t" r="r" b="b"/>
            <a:pathLst>
              <a:path w="2113549" h="1364768">
                <a:moveTo>
                  <a:pt x="0" y="0"/>
                </a:moveTo>
                <a:lnTo>
                  <a:pt x="2113549" y="0"/>
                </a:lnTo>
                <a:lnTo>
                  <a:pt x="2113549" y="1364767"/>
                </a:lnTo>
                <a:lnTo>
                  <a:pt x="0" y="136476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2854" t="-125285" r="-2854"/>
            </a:stretch>
          </a:blipFill>
        </p:spPr>
      </p:sp>
      <p:sp>
        <p:nvSpPr>
          <p:cNvPr id="43" name="Freeform 43"/>
          <p:cNvSpPr/>
          <p:nvPr>
            <p:custDataLst>
              <p:tags r:id="rId30"/>
            </p:custDataLst>
          </p:nvPr>
        </p:nvSpPr>
        <p:spPr>
          <a:xfrm>
            <a:off x="511810" y="8124825"/>
            <a:ext cx="1851025" cy="1522095"/>
          </a:xfrm>
          <a:custGeom>
            <a:avLst/>
            <a:gdLst/>
            <a:ahLst/>
            <a:cxnLst/>
            <a:rect l="l" t="t" r="r" b="b"/>
            <a:pathLst>
              <a:path w="1856988" h="1607632">
                <a:moveTo>
                  <a:pt x="0" y="0"/>
                </a:moveTo>
                <a:lnTo>
                  <a:pt x="1856988" y="0"/>
                </a:lnTo>
                <a:lnTo>
                  <a:pt x="1856988" y="1607632"/>
                </a:lnTo>
                <a:lnTo>
                  <a:pt x="0" y="160763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t="-742" b="-8992"/>
            </a:stretch>
          </a:blipFill>
        </p:spPr>
      </p:sp>
      <p:sp>
        <p:nvSpPr>
          <p:cNvPr id="46" name="TextBox 46"/>
          <p:cNvSpPr txBox="1"/>
          <p:nvPr>
            <p:custDataLst>
              <p:tags r:id="rId32"/>
            </p:custDataLst>
          </p:nvPr>
        </p:nvSpPr>
        <p:spPr>
          <a:xfrm>
            <a:off x="6469482" y="2018989"/>
            <a:ext cx="5249318" cy="17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240"/>
              </a:lnSpc>
              <a:buFont typeface="Wingdings" panose="05000000000000000000" charset="0"/>
              <a:buChar char="p"/>
            </a:pPr>
            <a:r>
              <a:rPr lang="zh-CN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驱动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：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纯家居服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性价比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是基础，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品质、面料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也重要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。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用户开始追求更高维度的“亲肤透气体验”与“时尚家居</a:t>
            </a:r>
            <a:r>
              <a:rPr lang="en-US" altLang="zh-CN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+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外穿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”。</a:t>
            </a:r>
            <a:endParaRPr lang="zh-CN" alt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痛点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：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目前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品牌 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“没特色、没溢价、被其他品牌替换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”。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机会：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打造多价位产品矩阵。守住“性价比”睡衣品线的同时，拓展“高品质面料/时尚轻外穿”线。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47" name="TextBox 47"/>
          <p:cNvSpPr txBox="1"/>
          <p:nvPr>
            <p:custDataLst>
              <p:tags r:id="rId33"/>
            </p:custDataLst>
          </p:nvPr>
        </p:nvSpPr>
        <p:spPr>
          <a:xfrm>
            <a:off x="12243435" y="2000885"/>
            <a:ext cx="528383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驱动：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“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耐穿、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性价比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、</a:t>
            </a:r>
            <a:r>
              <a:rPr lang="zh-CN" altLang="en-US" sz="1600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贴身</a:t>
            </a:r>
            <a:r>
              <a:rPr lang="en-US" sz="1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面料舒服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”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痛点：</a:t>
            </a:r>
            <a:r>
              <a:rPr lang="zh-CN" altLang="en-US" sz="1600" b="1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“浪漫/自信”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等情感标签有增长，但用户仍以</a:t>
            </a:r>
            <a:r>
              <a:rPr lang="zh-CN" altLang="en-US" sz="1600" b="1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“性价比”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为核心联想。品牌款式单一、购买渠道有限。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Wingdings" panose="05000000000000000000" charset="0"/>
              <a:buChar char="p"/>
            </a:pP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宋体" panose="02010600030101010101" pitchFamily="2" charset="-122"/>
                <a:cs typeface="Canva Sans" panose="020B0503030501040103"/>
                <a:sym typeface="Canva Sans" panose="020B0503030501040103"/>
              </a:rPr>
              <a:t>机会：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持续加强“风格化”设计，通过自信赋权(</a:t>
            </a:r>
            <a:r>
              <a:rPr lang="en-US" altLang="zh-CN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Empowerment)</a:t>
            </a:r>
            <a:r>
              <a:rPr lang="zh-CN" alt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营销建立溢价。</a:t>
            </a:r>
            <a:r>
              <a:rPr lang="en-US" sz="1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线下布局。</a:t>
            </a:r>
            <a:endParaRPr lang="en-US" sz="16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762000" y="571500"/>
            <a:ext cx="1140150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宋体" panose="02010600030101010101" pitchFamily="2" charset="-122"/>
                <a:cs typeface="Poppins" panose="00000500000000000000"/>
                <a:sym typeface="Poppins" panose="00000500000000000000"/>
              </a:rPr>
              <a:t>二、各</a:t>
            </a: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品牌核心</a:t>
            </a:r>
            <a:r>
              <a:rPr lang="zh-CN" alt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宋体" panose="02010600030101010101" pitchFamily="2" charset="-122"/>
                <a:cs typeface="Poppins" panose="00000500000000000000"/>
                <a:sym typeface="Poppins" panose="00000500000000000000"/>
              </a:rPr>
              <a:t>洞察</a:t>
            </a:r>
            <a:endParaRPr lang="zh-CN" altLang="en-US" sz="3300" b="1" i="0" u="none" strike="noStrike" cap="none">
              <a:solidFill>
                <a:srgbClr val="0F172A"/>
              </a:solidFill>
              <a:latin typeface="Poppins" panose="00000500000000000000"/>
              <a:ea typeface="宋体" panose="02010600030101010101" pitchFamily="2" charset="-122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6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6524625" y="1943100"/>
            <a:ext cx="5238750" cy="732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6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12192000" y="2024380"/>
            <a:ext cx="5238750" cy="7325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6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2024380"/>
            <a:ext cx="5238750" cy="732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6256020"/>
            <a:ext cx="16573500" cy="303974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6"/>
          <p:cNvSpPr txBox="1"/>
          <p:nvPr/>
        </p:nvSpPr>
        <p:spPr>
          <a:xfrm>
            <a:off x="1159510" y="1028700"/>
            <a:ext cx="1580220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300" b="1">
                <a:solidFill>
                  <a:srgbClr val="0F172A"/>
                </a:solidFill>
                <a:latin typeface="Poppins" panose="00000500000000000000"/>
                <a:ea typeface="宋体" panose="02010600030101010101" pitchFamily="2" charset="-122"/>
                <a:cs typeface="Poppins" panose="00000500000000000000"/>
                <a:sym typeface="Poppins" panose="00000500000000000000"/>
              </a:rPr>
              <a:t>三、</a:t>
            </a:r>
            <a:r>
              <a:rPr lang="en-US" sz="3300" b="1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品牌共性</a:t>
            </a:r>
            <a:endParaRPr sz="3300" b="1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857250" y="857250"/>
            <a:ext cx="114300" cy="900113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137137" tIns="68550" rIns="137137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16"/>
          <p:cNvSpPr txBox="1"/>
          <p:nvPr>
            <p:custDataLst>
              <p:tags r:id="rId8"/>
            </p:custDataLst>
          </p:nvPr>
        </p:nvSpPr>
        <p:spPr>
          <a:xfrm>
            <a:off x="1326358" y="3810000"/>
            <a:ext cx="4300380" cy="34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292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品牌</a:t>
            </a:r>
            <a:r>
              <a:rPr lang="zh-CN" altLang="en-US" sz="2925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知名</a:t>
            </a:r>
            <a:r>
              <a:rPr lang="en-US" sz="292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度</a:t>
            </a:r>
            <a:r>
              <a:rPr lang="zh-CN" altLang="en-US" sz="2925" b="1">
                <a:solidFill>
                  <a:srgbClr val="000000"/>
                </a:solidFill>
                <a:latin typeface="Canva Sans Bold" panose="020B0803030501040103"/>
                <a:ea typeface="宋体" panose="02010600030101010101" pitchFamily="2" charset="-122"/>
                <a:cs typeface="Canva Sans Bold" panose="020B0803030501040103"/>
                <a:sym typeface="Canva Sans Bold" panose="020B0803030501040103"/>
              </a:rPr>
              <a:t>提升空间大</a:t>
            </a:r>
            <a:endParaRPr lang="zh-CN" altLang="en-US" sz="2925" b="1" i="0" u="none" strike="noStrike" cap="none">
              <a:solidFill>
                <a:srgbClr val="000000"/>
              </a:solidFill>
              <a:latin typeface="Canva Sans Bold" panose="020B0803030501040103"/>
              <a:ea typeface="宋体" panose="02010600030101010101" pitchFamily="2" charset="-122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45" name="Google Shape;245;p16"/>
          <p:cNvSpPr txBox="1"/>
          <p:nvPr>
            <p:custDataLst>
              <p:tags r:id="rId9"/>
            </p:custDataLst>
          </p:nvPr>
        </p:nvSpPr>
        <p:spPr>
          <a:xfrm>
            <a:off x="1206500" y="4686300"/>
            <a:ext cx="4420235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对比同品类头部品牌</a:t>
            </a:r>
            <a:r>
              <a:rPr lang="en-US" altLang="zh-CN" sz="20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，</a:t>
            </a:r>
            <a:r>
              <a:rPr lang="zh-CN" altLang="en-US" sz="20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赛维品牌仍处于认知建设的早期阶段，持续营销投入是关键。</a:t>
            </a:r>
            <a:endParaRPr lang="zh-CN" altLang="en-US" sz="20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6" name="Google Shape;246;p16"/>
          <p:cNvSpPr txBox="1"/>
          <p:nvPr>
            <p:custDataLst>
              <p:tags r:id="rId10"/>
            </p:custDataLst>
          </p:nvPr>
        </p:nvSpPr>
        <p:spPr>
          <a:xfrm>
            <a:off x="7095816" y="3577590"/>
            <a:ext cx="4300616" cy="90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925" b="1" i="0" u="none" strike="noStrike" cap="none">
                <a:solidFill>
                  <a:srgbClr val="0F172A"/>
                </a:solidFill>
                <a:latin typeface="Poppins" panose="00000500000000000000"/>
                <a:ea typeface="宋体" panose="02010600030101010101" pitchFamily="2" charset="-122"/>
                <a:cs typeface="Poppins" panose="00000500000000000000"/>
                <a:sym typeface="Poppins" panose="00000500000000000000"/>
              </a:rPr>
              <a:t>从"性价比"到"情感品牌"的跃迁是共同课题</a:t>
            </a:r>
            <a:endParaRPr lang="zh-CN" altLang="en-US" sz="2925" b="1" i="0" u="none" strike="noStrike" cap="none">
              <a:solidFill>
                <a:srgbClr val="0F172A"/>
              </a:solidFill>
              <a:latin typeface="Poppins" panose="00000500000000000000"/>
              <a:ea typeface="宋体" panose="02010600030101010101" pitchFamily="2" charset="-122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7" name="Google Shape;247;p16"/>
          <p:cNvSpPr txBox="1"/>
          <p:nvPr>
            <p:custDataLst>
              <p:tags r:id="rId11"/>
            </p:custDataLst>
          </p:nvPr>
        </p:nvSpPr>
        <p:spPr>
          <a:xfrm>
            <a:off x="6841490" y="4674870"/>
            <a:ext cx="455422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1E293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六个品牌在消费者心智中"性价比/便宜/实用"形象深刻，尚未建立起独特的情感形象。</a:t>
            </a:r>
            <a:endParaRPr lang="en-US" sz="20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8" name="Google Shape;248;p16"/>
          <p:cNvSpPr txBox="1"/>
          <p:nvPr>
            <p:custDataLst>
              <p:tags r:id="rId12"/>
            </p:custDataLst>
          </p:nvPr>
        </p:nvSpPr>
        <p:spPr>
          <a:xfrm>
            <a:off x="12661035" y="3724910"/>
            <a:ext cx="4300380" cy="90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925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产品分层化是突破增长瓶颈的共同路径</a:t>
            </a:r>
            <a:endParaRPr lang="zh-CN" altLang="en-US" sz="2925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9" name="Google Shape;249;p16"/>
          <p:cNvSpPr txBox="1"/>
          <p:nvPr>
            <p:custDataLst>
              <p:tags r:id="rId13"/>
            </p:custDataLst>
          </p:nvPr>
        </p:nvSpPr>
        <p:spPr>
          <a:xfrm>
            <a:off x="12310110" y="4686300"/>
            <a:ext cx="5040630" cy="183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1E293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服装用户决策看重</a:t>
            </a:r>
            <a:r>
              <a:rPr lang="zh-CN" altLang="en-US" i="0" u="none" strike="noStrike" cap="none">
                <a:solidFill>
                  <a:srgbClr val="1E293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性价比和品质</a:t>
            </a:r>
            <a:r>
              <a:rPr lang="zh-CN" i="0" u="none" strike="noStrike" cap="none">
                <a:solidFill>
                  <a:srgbClr val="1E293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，</a:t>
            </a:r>
            <a:r>
              <a:rPr lang="zh-CN" altLang="en-US" b="0" i="0" u="none" strike="noStrike" cap="none">
                <a:solidFill>
                  <a:srgbClr val="1E293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六品牌当前均以单一价格带覆盖市场。适合</a:t>
            </a:r>
            <a:r>
              <a:rPr lang="en-US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多价位段</a:t>
            </a:r>
            <a:r>
              <a:rPr lang="zh-CN" altLang="en-US" b="0" i="0" u="none" strike="noStrike" cap="none">
                <a:solidFill>
                  <a:srgbClr val="1E293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品线打法，</a:t>
            </a:r>
            <a:r>
              <a:rPr lang="en-US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守住基础盘的同时，打造高面料/高</a:t>
            </a:r>
            <a:r>
              <a:rPr lang="zh-CN" altLang="en-US" b="0" i="0" u="none" strike="noStrike" cap="none">
                <a:solidFill>
                  <a:srgbClr val="1E293B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质量、多场景品线。</a:t>
            </a:r>
            <a:endParaRPr lang="zh-CN" altLang="en-US" b="0" i="0" u="none" strike="noStrike" cap="none">
              <a:solidFill>
                <a:srgbClr val="1E293B"/>
              </a:solidFill>
              <a:latin typeface="Lato" panose="020F0502020204030203"/>
              <a:ea typeface="宋体" panose="02010600030101010101" pitchFamily="2" charset="-122"/>
              <a:cs typeface="Lato" panose="020F0502020204030203"/>
              <a:sym typeface="Lato" panose="020F0502020204030203"/>
            </a:endParaRPr>
          </a:p>
        </p:txBody>
      </p:sp>
      <p:pic>
        <p:nvPicPr>
          <p:cNvPr id="250" name="Google Shape;250;p16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3119363" y="2667000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6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8786589" y="2667000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6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14454038" y="2667000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reeform 12"/>
          <p:cNvSpPr/>
          <p:nvPr>
            <p:custDataLst>
              <p:tags r:id="rId20"/>
            </p:custDataLst>
          </p:nvPr>
        </p:nvSpPr>
        <p:spPr>
          <a:xfrm>
            <a:off x="12254865" y="7774305"/>
            <a:ext cx="2938780" cy="1218565"/>
          </a:xfrm>
          <a:custGeom>
            <a:avLst/>
            <a:gdLst/>
            <a:ahLst/>
            <a:cxnLst/>
            <a:rect l="l" t="t" r="r" b="b"/>
            <a:pathLst>
              <a:path w="4316901" h="1901418">
                <a:moveTo>
                  <a:pt x="0" y="0"/>
                </a:moveTo>
                <a:lnTo>
                  <a:pt x="4316901" y="0"/>
                </a:lnTo>
                <a:lnTo>
                  <a:pt x="4316901" y="1901418"/>
                </a:lnTo>
                <a:lnTo>
                  <a:pt x="0" y="190141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graphicFrame>
        <p:nvGraphicFramePr>
          <p:cNvPr id="4" name="图表 3"/>
          <p:cNvGraphicFramePr/>
          <p:nvPr/>
        </p:nvGraphicFramePr>
        <p:xfrm>
          <a:off x="990600" y="6362700"/>
          <a:ext cx="5005705" cy="2832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268200" y="6363970"/>
            <a:ext cx="2781300" cy="13030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977745" y="6668135"/>
            <a:ext cx="2354580" cy="574040"/>
          </a:xfrm>
          <a:prstGeom prst="rect">
            <a:avLst/>
          </a:prstGeom>
        </p:spPr>
      </p:pic>
      <p:sp>
        <p:nvSpPr>
          <p:cNvPr id="28" name="Freeform 28"/>
          <p:cNvSpPr/>
          <p:nvPr>
            <p:custDataLst>
              <p:tags r:id="rId24"/>
            </p:custDataLst>
          </p:nvPr>
        </p:nvSpPr>
        <p:spPr>
          <a:xfrm>
            <a:off x="15554325" y="7505700"/>
            <a:ext cx="1967230" cy="1162685"/>
          </a:xfrm>
          <a:custGeom>
            <a:avLst/>
            <a:gdLst/>
            <a:ahLst/>
            <a:cxnLst/>
            <a:rect l="l" t="t" r="r" b="b"/>
            <a:pathLst>
              <a:path w="2546036" h="1297309">
                <a:moveTo>
                  <a:pt x="0" y="0"/>
                </a:moveTo>
                <a:lnTo>
                  <a:pt x="2546036" y="0"/>
                </a:lnTo>
                <a:lnTo>
                  <a:pt x="2546036" y="1297309"/>
                </a:lnTo>
                <a:lnTo>
                  <a:pt x="0" y="129730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b="-8072"/>
            </a:stretch>
          </a:blipFill>
        </p:spPr>
      </p:sp>
      <p:grpSp>
        <p:nvGrpSpPr>
          <p:cNvPr id="9" name="组合 8"/>
          <p:cNvGrpSpPr/>
          <p:nvPr/>
        </p:nvGrpSpPr>
        <p:grpSpPr>
          <a:xfrm>
            <a:off x="6604635" y="6438265"/>
            <a:ext cx="2538730" cy="2716530"/>
            <a:chOff x="10440" y="10140"/>
            <a:chExt cx="3998" cy="4278"/>
          </a:xfrm>
        </p:grpSpPr>
        <p:sp>
          <p:nvSpPr>
            <p:cNvPr id="5" name="文本框 4"/>
            <p:cNvSpPr txBox="1"/>
            <p:nvPr/>
          </p:nvSpPr>
          <p:spPr>
            <a:xfrm>
              <a:off x="10800" y="13500"/>
              <a:ext cx="319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赛维品牌形象</a:t>
              </a:r>
              <a:endParaRPr lang="zh-CN" altLang="en-US" sz="1600"/>
            </a:p>
            <a:p>
              <a:pPr algn="ctr"/>
              <a:r>
                <a:rPr lang="zh-CN" altLang="en-US" sz="1600"/>
                <a:t>词云</a:t>
              </a:r>
              <a:endParaRPr lang="zh-CN" altLang="en-US" sz="1600"/>
            </a:p>
          </p:txBody>
        </p:sp>
        <p:pic>
          <p:nvPicPr>
            <p:cNvPr id="7" name="图片 6" descr="本品"/>
            <p:cNvPicPr>
              <a:picLocks noChangeAspect="1"/>
            </p:cNvPicPr>
            <p:nvPr/>
          </p:nvPicPr>
          <p:blipFill>
            <a:blip r:embed="rId26"/>
            <a:srcRect t="11275" b="10774"/>
            <a:stretch>
              <a:fillRect/>
            </a:stretch>
          </p:blipFill>
          <p:spPr>
            <a:xfrm>
              <a:off x="10440" y="10140"/>
              <a:ext cx="3999" cy="3117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9144000" y="6438900"/>
            <a:ext cx="2515870" cy="2716530"/>
            <a:chOff x="14520" y="10140"/>
            <a:chExt cx="3962" cy="4278"/>
          </a:xfrm>
        </p:grpSpPr>
        <p:pic>
          <p:nvPicPr>
            <p:cNvPr id="6" name="图片 5" descr="本品 (1)"/>
            <p:cNvPicPr>
              <a:picLocks noChangeAspect="1"/>
            </p:cNvPicPr>
            <p:nvPr/>
          </p:nvPicPr>
          <p:blipFill>
            <a:blip r:embed="rId27"/>
            <a:srcRect t="12519" b="11463"/>
            <a:stretch>
              <a:fillRect/>
            </a:stretch>
          </p:blipFill>
          <p:spPr>
            <a:xfrm>
              <a:off x="14520" y="10140"/>
              <a:ext cx="3963" cy="3116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5000" y="13500"/>
              <a:ext cx="319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头部竞品形象</a:t>
              </a:r>
              <a:endParaRPr lang="zh-CN" altLang="en-US" sz="1600"/>
            </a:p>
            <a:p>
              <a:pPr algn="ctr"/>
              <a:r>
                <a:rPr lang="zh-CN" altLang="en-US" sz="1600"/>
                <a:t>词云</a:t>
              </a:r>
              <a:endParaRPr lang="zh-CN" altLang="en-US" sz="1600"/>
            </a:p>
          </p:txBody>
        </p:sp>
      </p:grpSp>
      <p:sp>
        <p:nvSpPr>
          <p:cNvPr id="11" name="右箭头 10"/>
          <p:cNvSpPr/>
          <p:nvPr/>
        </p:nvSpPr>
        <p:spPr>
          <a:xfrm>
            <a:off x="8839200" y="8724900"/>
            <a:ext cx="762000" cy="3048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84.0957480314961,&quot;left&quot;:-22.13031496062992,&quot;top&quot;:153.02370078740154,&quot;width&quot;:1447.9173228346458}"/>
</p:tagLst>
</file>

<file path=ppt/tags/tag2.xml><?xml version="1.0" encoding="utf-8"?>
<p:tagLst xmlns:p="http://schemas.openxmlformats.org/presentationml/2006/main">
  <p:tag name="KSO_WM_DIAGRAM_VIRTUALLY_FRAME" val="{&quot;height&quot;:584.0957480314961,&quot;left&quot;:-22.13031496062992,&quot;top&quot;:153.02370078740154,&quot;width&quot;:1447.9173228346458}"/>
</p:tagLst>
</file>

<file path=ppt/tags/tag3.xml><?xml version="1.0" encoding="utf-8"?>
<p:tagLst xmlns:p="http://schemas.openxmlformats.org/presentationml/2006/main">
  <p:tag name="KSO_WM_DIAGRAM_VIRTUALLY_FRAME" val="{&quot;height&quot;:584.0957480314961,&quot;left&quot;:-22.13031496062992,&quot;top&quot;:153.02370078740154,&quot;width&quot;:1447.9173228346458}"/>
</p:tagLst>
</file>

<file path=ppt/tags/tag4.xml><?xml version="1.0" encoding="utf-8"?>
<p:tagLst xmlns:p="http://schemas.openxmlformats.org/presentationml/2006/main">
  <p:tag name="KSO_WM_DIAGRAM_VIRTUALLY_FRAME" val="{&quot;height&quot;:584.0957480314961,&quot;left&quot;:-22.13031496062992,&quot;top&quot;:153.02370078740154,&quot;width&quot;:1447.9173228346458}"/>
</p:tagLst>
</file>

<file path=ppt/tags/tag5.xml><?xml version="1.0" encoding="utf-8"?>
<p:tagLst xmlns:p="http://schemas.openxmlformats.org/presentationml/2006/main">
  <p:tag name="KSO_WM_DIAGRAM_VIRTUALLY_FRAME" val="{&quot;height&quot;:584.0957480314961,&quot;left&quot;:-22.13031496062992,&quot;top&quot;:153.02370078740154,&quot;width&quot;:1447.9173228346458}"/>
</p:tagLst>
</file>

<file path=ppt/tags/tag6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7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8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9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0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1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2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3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4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5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6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7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8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19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20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21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22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23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24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25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ags/tag26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27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28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29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0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1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2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3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4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5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6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7.xml><?xml version="1.0" encoding="utf-8"?>
<p:tagLst xmlns:p="http://schemas.openxmlformats.org/presentationml/2006/main">
  <p:tag name="KSO_WM_DIAGRAM_VIRTUALLY_FRAME" val="{&quot;height&quot;:576.925,&quot;left&quot;:67.5,&quot;top&quot;:183.375,&quot;width&quot;:1305}"/>
</p:tagLst>
</file>

<file path=ppt/tags/tag38.xml><?xml version="1.0" encoding="utf-8"?>
<p:tagLst xmlns:p="http://schemas.openxmlformats.org/presentationml/2006/main">
  <p:tag name="KSO_WM_DIAGRAM_VIRTUALLY_FRAME" val="{&quot;height&quot;:584.0957480314961,&quot;left&quot;:-22.13031496062992,&quot;top&quot;:153.02370078740154,&quot;width&quot;:1447.9173228346458}"/>
</p:tagLst>
</file>

<file path=ppt/tags/tag39.xml><?xml version="1.0" encoding="utf-8"?>
<p:tagLst xmlns:p="http://schemas.openxmlformats.org/presentationml/2006/main">
  <p:tag name="KSO_WM_DIAGRAM_VIRTUALLY_FRAME" val="{&quot;height&quot;:676.836535433071,&quot;left&quot;:24.3,&quot;top&quot;:112.54850393700785,&quot;width&quot;:1400.13724409448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WPS 演示</Application>
  <PresentationFormat>On-screen Show (4:3)</PresentationFormat>
  <Paragraphs>97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9" baseType="lpstr">
      <vt:lpstr>Arial</vt:lpstr>
      <vt:lpstr>宋体</vt:lpstr>
      <vt:lpstr>Wingdings</vt:lpstr>
      <vt:lpstr>Poppins</vt:lpstr>
      <vt:lpstr>Anonymous</vt:lpstr>
      <vt:lpstr>Calibri</vt:lpstr>
      <vt:lpstr>Lato</vt:lpstr>
      <vt:lpstr>Wingdings</vt:lpstr>
      <vt:lpstr>Canva Sans</vt:lpstr>
      <vt:lpstr>Canva Sans Bold</vt:lpstr>
      <vt:lpstr>Arial MT Pro</vt:lpstr>
      <vt:lpstr>Arial MT Pro Bold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COOFANDY</dc:title>
  <dc:creator/>
  <cp:lastModifiedBy>OCD</cp:lastModifiedBy>
  <cp:revision>16</cp:revision>
  <dcterms:created xsi:type="dcterms:W3CDTF">2006-08-16T00:00:00Z</dcterms:created>
  <dcterms:modified xsi:type="dcterms:W3CDTF">2026-05-25T06:27:14Z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67A3B7F21E174672811A5A4069A1C416_13</vt:lpwstr>
  </property>
</Properties>
</file>